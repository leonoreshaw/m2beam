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d88f7814a84133" /><Relationship Type="http://schemas.openxmlformats.org/officeDocument/2006/relationships/extended-properties" Target="/docProps/app.xml" Id="Rb61ffcd1d0ba464d" /><Relationship Type="http://schemas.openxmlformats.org/officeDocument/2006/relationships/officeDocument" Target="/ppt/presentation.xml" Id="R9e53f55f0fc84c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b9d6c520d445cd"/>
  </p:sldMasterIdLst>
  <p:notesMasterIdLst>
    <p:notesMasterId xmlns:r="http://schemas.openxmlformats.org/officeDocument/2006/relationships" r:id="R62b206c6caf14768"/>
  </p:notesMasterIdLst>
  <p:sldIdLst>
    <p:sldId xmlns:r="http://schemas.openxmlformats.org/officeDocument/2006/relationships" id="256" r:id="Rcba0110248ee4c77"/>
    <p:sldId xmlns:r="http://schemas.openxmlformats.org/officeDocument/2006/relationships" id="257" r:id="R4c7acb59cfd041b2"/>
    <p:sldId xmlns:r="http://schemas.openxmlformats.org/officeDocument/2006/relationships" id="258" r:id="R7d91cff1c5ef49c8"/>
    <p:sldId xmlns:r="http://schemas.openxmlformats.org/officeDocument/2006/relationships" id="259" r:id="R16c4591de103460a"/>
    <p:sldId xmlns:r="http://schemas.openxmlformats.org/officeDocument/2006/relationships" id="260" r:id="R6c4378cc6f1144d2"/>
    <p:sldId xmlns:r="http://schemas.openxmlformats.org/officeDocument/2006/relationships" id="261" r:id="R6c2f36b89e234b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fcc57c2ffd4558" /><Relationship Type="http://schemas.openxmlformats.org/officeDocument/2006/relationships/slideMaster" Target="/ppt/slideMasters/slideMaster1.xml" Id="R57b9d6c520d445cd" /><Relationship Type="http://schemas.openxmlformats.org/officeDocument/2006/relationships/notesMaster" Target="/ppt/notesMasters/notesMaster1.xml" Id="R62b206c6caf14768" /><Relationship Type="http://schemas.openxmlformats.org/officeDocument/2006/relationships/presProps" Target="/ppt/presProps.xml" Id="R8b3683e8101946d5" /><Relationship Type="http://schemas.openxmlformats.org/officeDocument/2006/relationships/tableStyles" Target="/ppt/tableStyles.xml" Id="Raf47b59dfd78438e" /><Relationship Type="http://schemas.openxmlformats.org/officeDocument/2006/relationships/slide" Target="/ppt/slides/slide1.xml" Id="Rcba0110248ee4c77" /><Relationship Type="http://schemas.openxmlformats.org/officeDocument/2006/relationships/slide" Target="/ppt/slides/slide2.xml" Id="R4c7acb59cfd041b2" /><Relationship Type="http://schemas.openxmlformats.org/officeDocument/2006/relationships/slide" Target="/ppt/slides/slide3.xml" Id="R7d91cff1c5ef49c8" /><Relationship Type="http://schemas.openxmlformats.org/officeDocument/2006/relationships/slide" Target="/ppt/slides/slide4.xml" Id="R16c4591de103460a" /><Relationship Type="http://schemas.openxmlformats.org/officeDocument/2006/relationships/slide" Target="/ppt/slides/slide5.xml" Id="R6c4378cc6f1144d2" /><Relationship Type="http://schemas.openxmlformats.org/officeDocument/2006/relationships/slide" Target="/ppt/slides/slide6.xml" Id="R6c2f36b89e234b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aa33461c4249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b50164fd5149ac" /><Relationship Type="http://schemas.openxmlformats.org/officeDocument/2006/relationships/notesMaster" Target="/ppt/notesMasters/notesMaster1.xml" Id="R48fab711518a4d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6226c152ca4e26" /><Relationship Type="http://schemas.openxmlformats.org/officeDocument/2006/relationships/notesMaster" Target="/ppt/notesMasters/notesMaster1.xml" Id="R555321a2dc4e46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6d261d7cc4493f" /><Relationship Type="http://schemas.openxmlformats.org/officeDocument/2006/relationships/notesMaster" Target="/ppt/notesMasters/notesMaster1.xml" Id="R783c9405a80f43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2b942848344698" /><Relationship Type="http://schemas.openxmlformats.org/officeDocument/2006/relationships/notesMaster" Target="/ppt/notesMasters/notesMaster1.xml" Id="R30e73a6ef77f49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c500da0f864c30" /><Relationship Type="http://schemas.openxmlformats.org/officeDocument/2006/relationships/notesMaster" Target="/ppt/notesMasters/notesMaster1.xml" Id="Rb4466596690c4f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ba7112cd38419f" /><Relationship Type="http://schemas.openxmlformats.org/officeDocument/2006/relationships/notesMaster" Target="/ppt/notesMasters/notesMaster1.xml" Id="R96939d88db4d46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介绍汇报目标：总结椭圆率变化、M²图变化及光路实施方式。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F:/CodexProjects/光斑图片/outputs/cylindrical_lens_d4sigma_20260810/source_d4sigma_consolidated.csv</a:t>
            </a:r>
          </a:p>
          <a:p xmlns:a="http://schemas.openxmlformats.org/drawingml/2006/main">
            <a:r>
              <a:t>- F:/CodexProjects/光斑图片/outputs/cylindrical_lens_d4sigma_20260810/fit_summary.csv</a:t>
            </a:r>
          </a:p>
          <a:p xmlns:a="http://schemas.openxmlformats.org/drawingml/2006/main">
            <a:r>
              <a:t>- F:/CodexProjects/光斑图片/outputs/cylindrical_lens_d4sigma_20260810/design_summary.csv</a:t>
            </a:r>
          </a:p>
          <a:p xmlns:a="http://schemas.openxmlformats.org/drawingml/2006/main">
            <a:r>
              <a:t>- F:/CodexProjects/光斑图片/outputs/cylindrical_lens_d4sigma_20260810/model_curves.csv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区分拟合焦区最大值与离散测点：1.731 是连续焦散模型在焦点附近的最大轴比。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F:/CodexProjects/光斑图片/outputs/cylindrical_lens_d4sigma_20260810/source_d4sigma_consolidated.csv</a:t>
            </a:r>
          </a:p>
          <a:p xmlns:a="http://schemas.openxmlformats.org/drawingml/2006/main">
            <a:r>
              <a:t>- F:/CodexProjects/光斑图片/outputs/cylindrical_lens_d4sigma_20260810/fit_summary.csv</a:t>
            </a:r>
          </a:p>
          <a:p xmlns:a="http://schemas.openxmlformats.org/drawingml/2006/main">
            <a:r>
              <a:t>- F:/CodexProjects/光斑图片/outputs/cylindrical_lens_d4sigma_20260810/design_summary.csv</a:t>
            </a:r>
          </a:p>
          <a:p xmlns:a="http://schemas.openxmlformats.org/drawingml/2006/main">
            <a:r>
              <a:t>- F:/CodexProjects/光斑图片/outputs/cylindrical_lens_d4sigma_20260810/model_curves.csv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强调绿色曲线的平坦性：目标不是只在单点变圆，而是在220–250 mm焦区内控制最差轴比。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F:/CodexProjects/光斑图片/outputs/cylindrical_lens_d4sigma_20260810/source_d4sigma_consolidated.csv</a:t>
            </a:r>
          </a:p>
          <a:p xmlns:a="http://schemas.openxmlformats.org/drawingml/2006/main">
            <a:r>
              <a:t>- F:/CodexProjects/光斑图片/outputs/cylindrical_lens_d4sigma_20260810/fit_summary.csv</a:t>
            </a:r>
          </a:p>
          <a:p xmlns:a="http://schemas.openxmlformats.org/drawingml/2006/main">
            <a:r>
              <a:t>- F:/CodexProjects/光斑图片/outputs/cylindrical_lens_d4sigma_20260810/design_summary.csv</a:t>
            </a:r>
          </a:p>
          <a:p xmlns:a="http://schemas.openxmlformats.org/drawingml/2006/main">
            <a:r>
              <a:t>- F:/CodexProjects/光斑图片/outputs/cylindrical_lens_d4sigma_20260810/model_curves.csv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说明M²保持不变并不意味着光斑形状不变；薄柱面镜通过改变曲率重新分配束腰和发散。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F:/CodexProjects/光斑图片/outputs/cylindrical_lens_d4sigma_20260810/source_d4sigma_consolidated.csv</a:t>
            </a:r>
          </a:p>
          <a:p xmlns:a="http://schemas.openxmlformats.org/drawingml/2006/main">
            <a:r>
              <a:t>- F:/CodexProjects/光斑图片/outputs/cylindrical_lens_d4sigma_20260810/fit_summary.csv</a:t>
            </a:r>
          </a:p>
          <a:p xmlns:a="http://schemas.openxmlformats.org/drawingml/2006/main">
            <a:r>
              <a:t>- F:/CodexProjects/光斑图片/outputs/cylindrical_lens_d4sigma_20260810/design_summary.csv</a:t>
            </a:r>
          </a:p>
          <a:p xmlns:a="http://schemas.openxmlformats.org/drawingml/2006/main">
            <a:r>
              <a:t>- F:/CodexProjects/光斑图片/outputs/cylindrical_lens_d4sigma_20260810/model_curves.csv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光路实现：上游聚焦光学不变，在原焦点前加入正柱面镜，只给X方向增加会聚。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F:/CodexProjects/光斑图片/outputs/cylindrical_lens_d4sigma_20260810/source_d4sigma_consolidated.csv</a:t>
            </a:r>
          </a:p>
          <a:p xmlns:a="http://schemas.openxmlformats.org/drawingml/2006/main">
            <a:r>
              <a:t>- F:/CodexProjects/光斑图片/outputs/cylindrical_lens_d4sigma_20260810/fit_summary.csv</a:t>
            </a:r>
          </a:p>
          <a:p xmlns:a="http://schemas.openxmlformats.org/drawingml/2006/main">
            <a:r>
              <a:t>- F:/CodexProjects/光斑图片/outputs/cylindrical_lens_d4sigma_20260810/design_summary.csv</a:t>
            </a:r>
          </a:p>
          <a:p xmlns:a="http://schemas.openxmlformats.org/drawingml/2006/main">
            <a:r>
              <a:t>- F:/CodexProjects/光斑图片/outputs/cylindrical_lens_d4sigma_20260810/model_curves.csv</a:t>
            </a:r>
          </a:p>
          <a:p xmlns:a="http://schemas.openxmlformats.org/drawingml/2006/main">
            <a:r>
              <a:t>- https://www.lasercomponents.com/en/product/znse-lenses-for-co2-lasers/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建议用与原始CSV完全相同的D4σ算法复测，以避免算法口径变化造成伪改善。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F:/CodexProjects/光斑图片/outputs/cylindrical_lens_d4sigma_20260810/source_d4sigma_consolidated.csv</a:t>
            </a:r>
          </a:p>
          <a:p xmlns:a="http://schemas.openxmlformats.org/drawingml/2006/main">
            <a:r>
              <a:t>- F:/CodexProjects/光斑图片/outputs/cylindrical_lens_d4sigma_20260810/fit_summary.csv</a:t>
            </a:r>
          </a:p>
          <a:p xmlns:a="http://schemas.openxmlformats.org/drawingml/2006/main">
            <a:r>
              <a:t>- F:/CodexProjects/光斑图片/outputs/cylindrical_lens_d4sigma_20260810/design_summary.csv</a:t>
            </a:r>
          </a:p>
          <a:p xmlns:a="http://schemas.openxmlformats.org/drawingml/2006/main">
            <a:r>
              <a:t>- F:/CodexProjects/光斑图片/outputs/cylindrical_lens_d4sigma_20260810/model_curves.csv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c628826a3c4a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8866eb14f740b3" /><Relationship Type="http://schemas.openxmlformats.org/officeDocument/2006/relationships/slideLayout" Target="/ppt/slideLayouts/slideLayout1.xml" Id="Rf3a9a80aaa994b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a9a80aaa994b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cc6aa4eec4b79" /><Relationship Type="http://schemas.openxmlformats.org/officeDocument/2006/relationships/notesSlide" Target="/ppt/notesSlides/notesSlide1.xml" Id="Rb64499470c1849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f8f144b2b4c39" /><Relationship Type="http://schemas.openxmlformats.org/officeDocument/2006/relationships/notesSlide" Target="/ppt/notesSlides/notesSlide2.xml" Id="Rf365fe26ec964f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f0f77fab740a6" /><Relationship Type="http://schemas.openxmlformats.org/officeDocument/2006/relationships/chart" Target="/ppt/slides/charts/chart1.xml" Id="Rb91ea093e19c48f3" /><Relationship Type="http://schemas.openxmlformats.org/officeDocument/2006/relationships/notesSlide" Target="/ppt/notesSlides/notesSlide3.xml" Id="R481a6c7938ad45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8b632664e4722" /><Relationship Type="http://schemas.openxmlformats.org/officeDocument/2006/relationships/chart" Target="/ppt/slides/charts/chart2.xml" Id="R34c5ee4150c1401a" /><Relationship Type="http://schemas.openxmlformats.org/officeDocument/2006/relationships/chart" Target="/ppt/slides/charts/chart3.xml" Id="R76d3586c108f4756" /><Relationship Type="http://schemas.openxmlformats.org/officeDocument/2006/relationships/notesSlide" Target="/ppt/notesSlides/notesSlide4.xml" Id="Rd55afe7266aa4e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8c1f92a5b4bd5" /><Relationship Type="http://schemas.openxmlformats.org/officeDocument/2006/relationships/notesSlide" Target="/ppt/notesSlides/notesSlide5.xml" Id="R9529e1e1d82943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035fcb24b4834" /><Relationship Type="http://schemas.openxmlformats.org/officeDocument/2006/relationships/notesSlide" Target="/ppt/notesSlides/notesSlide6.xml" Id="R9c84d72eeca048ac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原始拟合</c:v>
          </c:tx>
          <c:spPr>
            <a:ln xmlns:a="http://schemas.openxmlformats.org/drawingml/2006/main" w="38100">
              <a:solidFill>
                <a:srgbClr val="5F6670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6"/>
              <c:pt idx="0">
                <c:v>220</c:v>
              </c:pt>
              <c:pt idx="1">
                <c:v>222</c:v>
              </c:pt>
              <c:pt idx="2">
                <c:v>224</c:v>
              </c:pt>
              <c:pt idx="3">
                <c:v>226</c:v>
              </c:pt>
              <c:pt idx="4">
                <c:v>228</c:v>
              </c:pt>
              <c:pt idx="5">
                <c:v>230</c:v>
              </c:pt>
              <c:pt idx="6">
                <c:v>232</c:v>
              </c:pt>
              <c:pt idx="7">
                <c:v>234</c:v>
              </c:pt>
              <c:pt idx="8">
                <c:v>236</c:v>
              </c:pt>
              <c:pt idx="9">
                <c:v>238</c:v>
              </c:pt>
              <c:pt idx="10">
                <c:v>240</c:v>
              </c:pt>
              <c:pt idx="11">
                <c:v>242</c:v>
              </c:pt>
              <c:pt idx="12">
                <c:v>244</c:v>
              </c:pt>
              <c:pt idx="13">
                <c:v>246</c:v>
              </c:pt>
              <c:pt idx="14">
                <c:v>248</c:v>
              </c:pt>
              <c:pt idx="15">
                <c:v>250</c:v>
              </c:pt>
            </c:numLit>
          </c:cat>
          <c:val>
            <c:numLit>
              <c:formatCode>0.00</c:formatCode>
              <c:ptCount val="16"/>
              <c:pt idx="0">
                <c:v>1.2708508435646373</c:v>
              </c:pt>
              <c:pt idx="1">
                <c:v>1.3268987911577164</c:v>
              </c:pt>
              <c:pt idx="2">
                <c:v>1.3914715057851772</c:v>
              </c:pt>
              <c:pt idx="3">
                <c:v>1.463760712958268</c:v>
              </c:pt>
              <c:pt idx="4">
                <c:v>1.5407984346289783</c:v>
              </c:pt>
              <c:pt idx="5">
                <c:v>1.6163401019424872</c:v>
              </c:pt>
              <c:pt idx="6">
                <c:v>1.6804567712674259</c:v>
              </c:pt>
              <c:pt idx="7">
                <c:v>1.721278368163862</c:v>
              </c:pt>
              <c:pt idx="8">
                <c:v>1.7295373103259803</c:v>
              </c:pt>
              <c:pt idx="9">
                <c:v>1.7035088894359298</c:v>
              </c:pt>
              <c:pt idx="10">
                <c:v>1.649991533584485</c:v>
              </c:pt>
              <c:pt idx="11">
                <c:v>1.5803585784344685</c:v>
              </c:pt>
              <c:pt idx="12">
                <c:v>1.505460399436373</c:v>
              </c:pt>
              <c:pt idx="13">
                <c:v>1.4328616457346</c:v>
              </c:pt>
              <c:pt idx="14">
                <c:v>1.3666356638612234</c:v>
              </c:pt>
              <c:pt idx="15">
                <c:v>1.3083269059795999</c:v>
              </c:pt>
            </c:numLit>
          </c:val>
        </c:ser>
        <c:ser>
          <c:idx val="1"/>
          <c:order val="1"/>
          <c:tx>
            <c:v>+50 mm 柱面镜</c:v>
          </c:tx>
          <c:spPr>
            <a:ln xmlns:a="http://schemas.openxmlformats.org/drawingml/2006/main" w="38100">
              <a:solidFill>
                <a:srgbClr val="009E73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6"/>
              <c:pt idx="0">
                <c:v>220</c:v>
              </c:pt>
              <c:pt idx="1">
                <c:v>222</c:v>
              </c:pt>
              <c:pt idx="2">
                <c:v>224</c:v>
              </c:pt>
              <c:pt idx="3">
                <c:v>226</c:v>
              </c:pt>
              <c:pt idx="4">
                <c:v>228</c:v>
              </c:pt>
              <c:pt idx="5">
                <c:v>230</c:v>
              </c:pt>
              <c:pt idx="6">
                <c:v>232</c:v>
              </c:pt>
              <c:pt idx="7">
                <c:v>234</c:v>
              </c:pt>
              <c:pt idx="8">
                <c:v>236</c:v>
              </c:pt>
              <c:pt idx="9">
                <c:v>238</c:v>
              </c:pt>
              <c:pt idx="10">
                <c:v>240</c:v>
              </c:pt>
              <c:pt idx="11">
                <c:v>242</c:v>
              </c:pt>
              <c:pt idx="12">
                <c:v>244</c:v>
              </c:pt>
              <c:pt idx="13">
                <c:v>246</c:v>
              </c:pt>
              <c:pt idx="14">
                <c:v>248</c:v>
              </c:pt>
              <c:pt idx="15">
                <c:v>250</c:v>
              </c:pt>
            </c:numLit>
          </c:cat>
          <c:val>
            <c:numLit>
              <c:formatCode>0.00</c:formatCode>
              <c:ptCount val="16"/>
              <c:pt idx="0">
                <c:v>1.2563026424385304</c:v>
              </c:pt>
              <c:pt idx="1">
                <c:v>1.2554818295206</c:v>
              </c:pt>
              <c:pt idx="2">
                <c:v>1.2544984285258727</c:v>
              </c:pt>
              <c:pt idx="3">
                <c:v>1.2533505125714046</c:v>
              </c:pt>
              <c:pt idx="4">
                <c:v>1.2520750821545632</c:v>
              </c:pt>
              <c:pt idx="5">
                <c:v>1.2507781682909649</c:v>
              </c:pt>
              <c:pt idx="6">
                <c:v>1.2496546971804616</c:v>
              </c:pt>
              <c:pt idx="7">
                <c:v>1.2489578242257775</c:v>
              </c:pt>
              <c:pt idx="8">
                <c:v>1.2488907969118133</c:v>
              </c:pt>
              <c:pt idx="9">
                <c:v>1.2494809797803326</c:v>
              </c:pt>
              <c:pt idx="10">
                <c:v>1.250559392063615</c:v>
              </c:pt>
              <c:pt idx="11">
                <c:v>1.2518694810537476</c:v>
              </c:pt>
              <c:pt idx="12">
                <c:v>1.2531921973951603</c:v>
              </c:pt>
              <c:pt idx="13">
                <c:v>1.2543981486885876</c:v>
              </c:pt>
              <c:pt idx="14">
                <c:v>1.2554362447717904</c:v>
              </c:pt>
              <c:pt idx="15">
                <c:v>1.2563025797357126</c:v>
              </c:pt>
            </c:numLit>
          </c:val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111111"/>
                    </a:solidFill>
                  </a:rPr>
                  <a:t>z (mm)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67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.8"/>
          <c:min val="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111111"/>
                    </a:solidFill>
                  </a:rPr>
                  <a:t>椭圆率 = 长轴/短轴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11111"/>
                  </a:solidFill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670"/>
                </a:solidFill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11111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加镜前</c:v>
          </c:tx>
          <c:spPr>
            <a:solidFill xmlns:a="http://schemas.openxmlformats.org/drawingml/2006/main">
              <a:srgbClr val="5F6670"/>
            </a:solidFill>
          </c:spPr>
          <c:cat>
            <c:strLit>
              <c:ptCount val="2"/>
              <c:pt idx="0">
                <c:v>X</c:v>
              </c:pt>
              <c:pt idx="1">
                <c:v>Y</c:v>
              </c:pt>
            </c:strLit>
          </c:cat>
          <c:val>
            <c:numLit>
              <c:formatCode>0.0</c:formatCode>
              <c:ptCount val="2"/>
              <c:pt idx="0">
                <c:v>2.6064996435745478</c:v>
              </c:pt>
              <c:pt idx="1">
                <c:v>1.6552010229690728</c:v>
              </c:pt>
            </c:numLit>
          </c:val>
        </c:ser>
        <c:ser>
          <c:idx val="1"/>
          <c:order val="1"/>
          <c:tx>
            <c:v>加镜后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X</c:v>
              </c:pt>
              <c:pt idx="1">
                <c:v>Y</c:v>
              </c:pt>
            </c:strLit>
          </c:cat>
          <c:val>
            <c:numLit>
              <c:formatCode>0.0</c:formatCode>
              <c:ptCount val="2"/>
              <c:pt idx="0">
                <c:v>2.6064996435745478</c:v>
              </c:pt>
              <c:pt idx="1">
                <c:v>1.6552010229690728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111111"/>
                    </a:solidFill>
                  </a:rPr>
                  <a:t>M²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11111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670"/>
                </a:solidFill>
              </a:defRPr>
            </a:pPr>
          </a:p>
        </c:txPr>
        <c:crossAx val="48650112"/>
        <c:crossBetween val="between"/>
        <c:majorUnit val="0.5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111111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原始 X</c:v>
          </c:tx>
          <c:spPr>
            <a:ln xmlns:a="http://schemas.openxmlformats.org/drawingml/2006/main" w="28575">
              <a:solidFill>
                <a:srgbClr val="D55E00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6"/>
              <c:pt idx="0">
                <c:v>220</c:v>
              </c:pt>
              <c:pt idx="1">
                <c:v>222</c:v>
              </c:pt>
              <c:pt idx="2">
                <c:v>224</c:v>
              </c:pt>
              <c:pt idx="3">
                <c:v>226</c:v>
              </c:pt>
              <c:pt idx="4">
                <c:v>228</c:v>
              </c:pt>
              <c:pt idx="5">
                <c:v>230</c:v>
              </c:pt>
              <c:pt idx="6">
                <c:v>232</c:v>
              </c:pt>
              <c:pt idx="7">
                <c:v>234</c:v>
              </c:pt>
              <c:pt idx="8">
                <c:v>236</c:v>
              </c:pt>
              <c:pt idx="9">
                <c:v>238</c:v>
              </c:pt>
              <c:pt idx="10">
                <c:v>240</c:v>
              </c:pt>
              <c:pt idx="11">
                <c:v>242</c:v>
              </c:pt>
              <c:pt idx="12">
                <c:v>244</c:v>
              </c:pt>
              <c:pt idx="13">
                <c:v>246</c:v>
              </c:pt>
              <c:pt idx="14">
                <c:v>248</c:v>
              </c:pt>
              <c:pt idx="15">
                <c:v>250</c:v>
              </c:pt>
            </c:numLit>
          </c:cat>
          <c:val>
            <c:numLit>
              <c:formatCode>0</c:formatCode>
              <c:ptCount val="16"/>
              <c:pt idx="0">
                <c:v>1068.5136884272347</c:v>
              </c:pt>
              <c:pt idx="1">
                <c:v>1027.0720894843485</c:v>
              </c:pt>
              <c:pt idx="2">
                <c:v>990.200881275454</c:v>
              </c:pt>
              <c:pt idx="3">
                <c:v>958.4276849085666</c:v>
              </c:pt>
              <c:pt idx="4">
                <c:v>932.2738882749384</c:v>
              </c:pt>
              <c:pt idx="5">
                <c:v>912.2229507959764</c:v>
              </c:pt>
              <c:pt idx="6">
                <c:v>898.6834563950385</c:v>
              </c:pt>
              <c:pt idx="7">
                <c:v>891.9519781226547</c:v>
              </c:pt>
              <c:pt idx="8">
                <c:v>892.182627826427</c:v>
              </c:pt>
              <c:pt idx="9">
                <c:v>899.3700490638934</c:v>
              </c:pt>
              <c:pt idx="10">
                <c:v>913.350021925154</c:v>
              </c:pt>
              <c:pt idx="11">
                <c:v>933.8175269225446</c:v>
              </c:pt>
              <c:pt idx="12">
                <c:v>960.3578594796651</c:v>
              </c:pt>
              <c:pt idx="13">
                <c:v>992.4839528075805</c:v>
              </c:pt>
              <c:pt idx="14">
                <c:v>1029.6731076105289</c:v>
              </c:pt>
              <c:pt idx="15">
                <c:v>1071.398223879271</c:v>
              </c:pt>
            </c:numLit>
          </c:val>
        </c:ser>
        <c:ser>
          <c:idx val="1"/>
          <c:order val="1"/>
          <c:tx>
            <c:v>Y（不变）</c:v>
          </c:tx>
          <c:spPr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6"/>
              <c:pt idx="0">
                <c:v>220</c:v>
              </c:pt>
              <c:pt idx="1">
                <c:v>222</c:v>
              </c:pt>
              <c:pt idx="2">
                <c:v>224</c:v>
              </c:pt>
              <c:pt idx="3">
                <c:v>226</c:v>
              </c:pt>
              <c:pt idx="4">
                <c:v>228</c:v>
              </c:pt>
              <c:pt idx="5">
                <c:v>230</c:v>
              </c:pt>
              <c:pt idx="6">
                <c:v>232</c:v>
              </c:pt>
              <c:pt idx="7">
                <c:v>234</c:v>
              </c:pt>
              <c:pt idx="8">
                <c:v>236</c:v>
              </c:pt>
              <c:pt idx="9">
                <c:v>238</c:v>
              </c:pt>
              <c:pt idx="10">
                <c:v>240</c:v>
              </c:pt>
              <c:pt idx="11">
                <c:v>242</c:v>
              </c:pt>
              <c:pt idx="12">
                <c:v>244</c:v>
              </c:pt>
              <c:pt idx="13">
                <c:v>246</c:v>
              </c:pt>
              <c:pt idx="14">
                <c:v>248</c:v>
              </c:pt>
              <c:pt idx="15">
                <c:v>250</c:v>
              </c:pt>
            </c:numLit>
          </c:cat>
          <c:val>
            <c:numLit>
              <c:formatCode>0</c:formatCode>
              <c:ptCount val="16"/>
              <c:pt idx="0">
                <c:v>840.7860716605713</c:v>
              </c:pt>
              <c:pt idx="1">
                <c:v>774.0395095154396</c:v>
              </c:pt>
              <c:pt idx="2">
                <c:v>711.6213858196867</c:v>
              </c:pt>
              <c:pt idx="3">
                <c:v>654.7707397963833</c:v>
              </c:pt>
              <c:pt idx="4">
                <c:v>605.0589534116631</c:v>
              </c:pt>
              <c:pt idx="5">
                <c:v>564.3756222466324</c:v>
              </c:pt>
              <c:pt idx="6">
                <c:v>534.785227302954</c:v>
              </c:pt>
              <c:pt idx="7">
                <c:v>518.191592144463</c:v>
              </c:pt>
              <c:pt idx="8">
                <c:v>515.8504661910242</c:v>
              </c:pt>
              <c:pt idx="9">
                <c:v>527.9514856900424</c:v>
              </c:pt>
              <c:pt idx="10">
                <c:v>553.5483081788719</c:v>
              </c:pt>
              <c:pt idx="11">
                <c:v>590.8896497702445</c:v>
              </c:pt>
              <c:pt idx="12">
                <c:v>637.916387464733</c:v>
              </c:pt>
              <c:pt idx="13">
                <c:v>692.658607871909</c:v>
              </c:pt>
              <c:pt idx="14">
                <c:v>753.4364387223311</c:v>
              </c:pt>
              <c:pt idx="15">
                <c:v>818.9071240395149</c:v>
              </c:pt>
            </c:numLit>
          </c:val>
        </c:ser>
        <c:ser>
          <c:idx val="2"/>
          <c:order val="2"/>
          <c:tx>
            <c:v>加镜后 X</c:v>
          </c:tx>
          <c:spPr>
            <a:ln xmlns:a="http://schemas.openxmlformats.org/drawingml/2006/main" w="38100">
              <a:solidFill>
                <a:srgbClr val="009E73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6"/>
              <c:pt idx="0">
                <c:v>220</c:v>
              </c:pt>
              <c:pt idx="1">
                <c:v>222</c:v>
              </c:pt>
              <c:pt idx="2">
                <c:v>224</c:v>
              </c:pt>
              <c:pt idx="3">
                <c:v>226</c:v>
              </c:pt>
              <c:pt idx="4">
                <c:v>228</c:v>
              </c:pt>
              <c:pt idx="5">
                <c:v>230</c:v>
              </c:pt>
              <c:pt idx="6">
                <c:v>232</c:v>
              </c:pt>
              <c:pt idx="7">
                <c:v>234</c:v>
              </c:pt>
              <c:pt idx="8">
                <c:v>236</c:v>
              </c:pt>
              <c:pt idx="9">
                <c:v>238</c:v>
              </c:pt>
              <c:pt idx="10">
                <c:v>240</c:v>
              </c:pt>
              <c:pt idx="11">
                <c:v>242</c:v>
              </c:pt>
              <c:pt idx="12">
                <c:v>244</c:v>
              </c:pt>
              <c:pt idx="13">
                <c:v>246</c:v>
              </c:pt>
              <c:pt idx="14">
                <c:v>248</c:v>
              </c:pt>
              <c:pt idx="15">
                <c:v>250</c:v>
              </c:pt>
            </c:numLit>
          </c:cat>
          <c:val>
            <c:numLit>
              <c:formatCode>0</c:formatCode>
              <c:ptCount val="16"/>
              <c:pt idx="0">
                <c:v>1056.2817635526874</c:v>
              </c:pt>
              <c:pt idx="1">
                <c:v>971.792539527672</c:v>
              </c:pt>
              <c:pt idx="2">
                <c:v>892.7279102162007</c:v>
              </c:pt>
              <c:pt idx="3">
                <c:v>820.6572423405547</c:v>
              </c:pt>
              <c:pt idx="4">
                <c:v>757.579238801262</c:v>
              </c:pt>
              <c:pt idx="5">
                <c:v>705.9087070217164</c:v>
              </c:pt>
              <c:pt idx="6">
                <c:v>668.2968712818573</c:v>
              </c:pt>
              <c:pt idx="7">
                <c:v>647.1994434568401</c:v>
              </c:pt>
              <c:pt idx="8">
                <c:v>644.2408998086386</c:v>
              </c:pt>
              <c:pt idx="9">
                <c:v>659.6653396164764</c:v>
              </c:pt>
              <c:pt idx="10">
                <c:v>692.2450357540127</c:v>
              </c:pt>
              <c:pt idx="11">
                <c:v>739.7167192179068</c:v>
              </c:pt>
              <c:pt idx="12">
                <c:v>799.4318393613113</c:v>
              </c:pt>
              <c:pt idx="13">
                <c:v>868.869675387737</c:v>
              </c:pt>
              <c:pt idx="14">
                <c:v>945.8914133037945</c:v>
              </c:pt>
              <c:pt idx="15">
                <c:v>1028.7951324947958</c:v>
              </c:pt>
            </c:numLit>
          </c:val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111111"/>
                    </a:solidFill>
                  </a:rPr>
                  <a:t>z (mm)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67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8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111111"/>
                    </a:solidFill>
                  </a:rPr>
                  <a:t>D4σ (µm)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11111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670"/>
                </a:solidFill>
              </a:defRPr>
            </a:pPr>
          </a:p>
        </c:txPr>
        <c:crossAx val="48650112"/>
        <c:crossBetween val="between"/>
        <c:majorUnit val="300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11111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079316D1-A65A-4EC8-9179-50F629EA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D4σ / M² CAUSTIC ANALYSIS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DD9C092-F9B0-420B-9BA8-A7FC0E13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857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D4σ 椭圆率与</a:t>
            </a:r>
          </a:p>
          <a:p xmlns:a="http://schemas.openxmlformats.org/drawingml/2006/main">
            <a:pPr algn="l">
              <a:defRPr sz="5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柱面镜修正方案</a:t>
            </a:r>
          </a:p>
        </p:txBody>
      </p:sp>
      <p:sp>
        <p:nvSpPr>
          <p:cNvPr id="3" name="cover-rule">
            <a:extLst xmlns:a="http://schemas.openxmlformats.org/drawingml/2006/main">
              <a:ext uri="{FF2B5EF4-FFF2-40B4-BE49-F238E27FC236}">
                <a16:creationId xmlns:a16="http://schemas.microsoft.com/office/drawing/2014/main" id="{9106B2FA-FC1F-4B54-AA26-0C3E6C0F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8483228-4571-4F11-865A-55BAC722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+50 mm ZnSe 柱面镜 · z≈219.43 mm · 焦区最大轴比≈1.256</a:t>
            </a:r>
          </a:p>
        </p:txBody>
      </p:sp>
      <p:sp>
        <p:nvSpPr>
          <p:cNvPr id="5" name="cover-method">
            <a:extLst xmlns:a="http://schemas.openxmlformats.org/drawingml/2006/main">
              <a:ext uri="{FF2B5EF4-FFF2-40B4-BE49-F238E27FC236}">
                <a16:creationId xmlns:a16="http://schemas.microsoft.com/office/drawing/2014/main" id="{6B5D01A1-72DF-4F7E-90B9-552623AC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基于原始 CSV 的二阶矩焦散拟合与薄透镜传播</a:t>
            </a:r>
          </a:p>
        </p:txBody>
      </p:sp>
    </p:spTree>
    <p:extLst>
      <p:ext uri="{BB962C8B-B14F-4D97-AF65-F5344CB8AC3E}">
        <p14:creationId xmlns:p14="http://schemas.microsoft.com/office/powerpoint/2010/main" val="1336406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294791CC-DDD6-4337-A422-00E819FC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287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柱面镜把焦区最大轴比从 1.731 降至 1.256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F9042CB5-0886-40ED-A73E-6C036FAC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" name="summary-explanation">
            <a:extLst xmlns:a="http://schemas.openxmlformats.org/drawingml/2006/main">
              <a:ext uri="{FF2B5EF4-FFF2-40B4-BE49-F238E27FC236}">
                <a16:creationId xmlns:a16="http://schemas.microsoft.com/office/drawing/2014/main" id="{273660DE-DBE1-4877-8DEA-55879180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14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原始两轴束腰几乎在同一位置，主要矛盾是束腰尺寸和发散斜率不匹配；对较宽的 X 方向增加正光焦度即可显著改善焦区圆度。</a:t>
            </a:r>
          </a:p>
        </p:txBody>
      </p:sp>
      <p:sp>
        <p:nvSpPr>
          <p:cNvPr id="4" name="metric-panel-1">
            <a:extLst xmlns:a="http://schemas.openxmlformats.org/drawingml/2006/main">
              <a:ext uri="{FF2B5EF4-FFF2-40B4-BE49-F238E27FC236}">
                <a16:creationId xmlns:a16="http://schemas.microsoft.com/office/drawing/2014/main" id="{A0A35BCE-FB0E-4D1C-A17E-E5055CEC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accent-1">
            <a:extLst xmlns:a="http://schemas.openxmlformats.org/drawingml/2006/main">
              <a:ext uri="{FF2B5EF4-FFF2-40B4-BE49-F238E27FC236}">
                <a16:creationId xmlns:a16="http://schemas.microsoft.com/office/drawing/2014/main" id="{A489DED6-1A7B-47FD-B6B3-07F036F3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114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stat-1">
            <a:extLst xmlns:a="http://schemas.openxmlformats.org/drawingml/2006/main">
              <a:ext uri="{FF2B5EF4-FFF2-40B4-BE49-F238E27FC236}">
                <a16:creationId xmlns:a16="http://schemas.microsoft.com/office/drawing/2014/main" id="{5811E882-074D-4829-8F04-D614F373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3832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1.731 → 1.256</a:t>
            </a:r>
          </a:p>
        </p:txBody>
      </p:sp>
      <p:sp>
        <p:nvSpPr>
          <p:cNvPr id="7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6775919C-9ED9-4339-A495-5507BEAC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220–250 mm 最大椭圆率</a:t>
            </a:r>
          </a:p>
        </p:txBody>
      </p:sp>
      <p:sp>
        <p:nvSpPr>
          <p:cNvPr id="8" name="metric-panel-2">
            <a:extLst xmlns:a="http://schemas.openxmlformats.org/drawingml/2006/main">
              <a:ext uri="{FF2B5EF4-FFF2-40B4-BE49-F238E27FC236}">
                <a16:creationId xmlns:a16="http://schemas.microsoft.com/office/drawing/2014/main" id="{8229E3A7-21F6-401B-9A37-65920806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00375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accent-2">
            <a:extLst xmlns:a="http://schemas.openxmlformats.org/drawingml/2006/main">
              <a:ext uri="{FF2B5EF4-FFF2-40B4-BE49-F238E27FC236}">
                <a16:creationId xmlns:a16="http://schemas.microsoft.com/office/drawing/2014/main" id="{02FF791D-C561-4938-8CE0-495F4C39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00375"/>
            <a:ext cx="114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stat-2">
            <a:extLst xmlns:a="http://schemas.openxmlformats.org/drawingml/2006/main">
              <a:ext uri="{FF2B5EF4-FFF2-40B4-BE49-F238E27FC236}">
                <a16:creationId xmlns:a16="http://schemas.microsoft.com/office/drawing/2014/main" id="{4F6A1A69-6C02-4625-ACB3-A704E19D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571875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114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9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9E73"/>
                </a:solidFill>
                <a:latin typeface="Microsoft YaHei"/>
                <a:ea typeface="Microsoft YaHei"/>
                <a:cs typeface="Microsoft YaHei"/>
              </a:rPr>
              <a:t>57.8% → 79.6%</a:t>
            </a:r>
          </a:p>
        </p:txBody>
      </p:sp>
      <p:sp>
        <p:nvSpPr>
          <p:cNvPr id="11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06C3198F-FF8E-493C-AA91-86A490C1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90537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焦区最低圆度</a:t>
            </a:r>
          </a:p>
        </p:txBody>
      </p:sp>
      <p:sp>
        <p:nvSpPr>
          <p:cNvPr id="12" name="metric-panel-3">
            <a:extLst xmlns:a="http://schemas.openxmlformats.org/drawingml/2006/main">
              <a:ext uri="{FF2B5EF4-FFF2-40B4-BE49-F238E27FC236}">
                <a16:creationId xmlns:a16="http://schemas.microsoft.com/office/drawing/2014/main" id="{E174CBD6-35E1-4D88-9E9A-69DEB622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0375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accent-3">
            <a:extLst xmlns:a="http://schemas.openxmlformats.org/drawingml/2006/main">
              <a:ext uri="{FF2B5EF4-FFF2-40B4-BE49-F238E27FC236}">
                <a16:creationId xmlns:a16="http://schemas.microsoft.com/office/drawing/2014/main" id="{8D7D8084-F0B0-4621-9E42-B61B0E1F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0375"/>
            <a:ext cx="114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ric-stat-3">
            <a:extLst xmlns:a="http://schemas.openxmlformats.org/drawingml/2006/main">
              <a:ext uri="{FF2B5EF4-FFF2-40B4-BE49-F238E27FC236}">
                <a16:creationId xmlns:a16="http://schemas.microsoft.com/office/drawing/2014/main" id="{6DC99BC7-DD28-45BC-950C-8FE2C6D9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71875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69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E69F00"/>
                </a:solidFill>
                <a:latin typeface="Microsoft YaHei"/>
                <a:ea typeface="Microsoft YaHei"/>
                <a:cs typeface="Microsoft YaHei"/>
              </a:rPr>
              <a:t>≈27.4%</a:t>
            </a:r>
          </a:p>
        </p:txBody>
      </p:sp>
      <p:sp>
        <p:nvSpPr>
          <p:cNvPr id="15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75F829C6-DBCF-4BE0-8035-2A334C5C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0537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最大轴比降幅</a:t>
            </a:r>
          </a:p>
        </p:txBody>
      </p:sp>
    </p:spTree>
    <p:extLst>
      <p:ext uri="{BB962C8B-B14F-4D97-AF65-F5344CB8AC3E}">
        <p14:creationId xmlns:p14="http://schemas.microsoft.com/office/powerpoint/2010/main" val="4891856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8E686A50-BA39-401C-BDEE-D76CD039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287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焦区椭圆率从尖峰变为接近恒定的 1.25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70FE0BAA-1CA3-4B00-9D67-6BF1AD04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7620000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91ea093e19c48f3"/>
          </a:graphicData>
        </a:graphic>
      </p:graphicFrame>
      <p:sp>
        <p:nvSpPr>
          <p:cNvPr id="4" name="limit-heading">
            <a:extLst xmlns:a="http://schemas.openxmlformats.org/drawingml/2006/main">
              <a:ext uri="{FF2B5EF4-FFF2-40B4-BE49-F238E27FC236}">
                <a16:creationId xmlns:a16="http://schemas.microsoft.com/office/drawing/2014/main" id="{DBCDC584-6741-435C-8996-E10990EA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7162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902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为什么无法整段达到 1.00？</a:t>
            </a:r>
          </a:p>
        </p:txBody>
      </p:sp>
      <p:sp>
        <p:nvSpPr>
          <p:cNvPr id="5" name="limit-body">
            <a:extLst xmlns:a="http://schemas.openxmlformats.org/drawingml/2006/main">
              <a:ext uri="{FF2B5EF4-FFF2-40B4-BE49-F238E27FC236}">
                <a16:creationId xmlns:a16="http://schemas.microsoft.com/office/drawing/2014/main" id="{0CA72EE7-3999-4408-AE7B-CA44CD80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38375"/>
            <a:ext cx="314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519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单片无损柱面镜不改变两轴 M²。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因此整段恒定轴比存在一个理论下限。</a:t>
            </a:r>
          </a:p>
        </p:txBody>
      </p:sp>
      <p:sp>
        <p:nvSpPr>
          <p:cNvPr id="6" name="limit-panel">
            <a:extLst xmlns:a="http://schemas.openxmlformats.org/drawingml/2006/main">
              <a:ext uri="{FF2B5EF4-FFF2-40B4-BE49-F238E27FC236}">
                <a16:creationId xmlns:a16="http://schemas.microsoft.com/office/drawing/2014/main" id="{6D3FDC4F-E678-4224-8C81-F7E35F98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3143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imit-formula">
            <a:extLst xmlns:a="http://schemas.openxmlformats.org/drawingml/2006/main">
              <a:ext uri="{FF2B5EF4-FFF2-40B4-BE49-F238E27FC236}">
                <a16:creationId xmlns:a16="http://schemas.microsoft.com/office/drawing/2014/main" id="{D97F0A68-FEDF-4017-9980-17FD5C0F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92430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907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√(M²X/M²Y)</a:t>
            </a:r>
          </a:p>
          <a:p xmlns:a="http://schemas.openxmlformats.org/drawingml/2006/main">
            <a:pPr algn="ctr"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= 1.2549</a:t>
            </a:r>
          </a:p>
        </p:txBody>
      </p:sp>
      <p:sp>
        <p:nvSpPr>
          <p:cNvPr id="8" name="limit-conclusion">
            <a:extLst xmlns:a="http://schemas.openxmlformats.org/drawingml/2006/main">
              <a:ext uri="{FF2B5EF4-FFF2-40B4-BE49-F238E27FC236}">
                <a16:creationId xmlns:a16="http://schemas.microsoft.com/office/drawing/2014/main" id="{BBB147EB-1BC9-4C5E-92F6-3E6C689B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197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推荐方案最大轴比 1.2563，距理论下限仅 0.0014。</a:t>
            </a:r>
          </a:p>
        </p:txBody>
      </p:sp>
    </p:spTree>
    <p:extLst>
      <p:ext uri="{BB962C8B-B14F-4D97-AF65-F5344CB8AC3E}">
        <p14:creationId xmlns:p14="http://schemas.microsoft.com/office/powerpoint/2010/main" val="5043489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EFBA05E9-7508-464B-9EE7-DD4183BA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287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柱面镜改变焦散形状，但不会改善 M²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04D720EA-4D6F-498A-B17A-232C0EBA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" name="m2-subtitle">
            <a:extLst xmlns:a="http://schemas.openxmlformats.org/drawingml/2006/main">
              <a:ext uri="{FF2B5EF4-FFF2-40B4-BE49-F238E27FC236}">
                <a16:creationId xmlns:a16="http://schemas.microsoft.com/office/drawing/2014/main" id="{44E51DA3-7959-4F52-A8D9-935005AB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95375"/>
            <a:ext cx="1123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M² 图中前后柱高相同；变化发生在 X 轴束腰与发散的重新分配。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400050" y="1762125"/>
          <a:ext xmlns:a="http://schemas.openxmlformats.org/drawingml/2006/main" cx="37147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4c5ee4150c1401a"/>
          </a:graphicData>
        </a:graphic>
      </p:graphicFrame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4476750" y="1762125"/>
          <a:ext xmlns:a="http://schemas.openxmlformats.org/drawingml/2006/main" cx="7191375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d3586c108f4756"/>
          </a:graphicData>
        </a:graphic>
      </p:graphicFrame>
      <p:sp>
        <p:nvSpPr>
          <p:cNvPr id="6" name="waist-change">
            <a:extLst xmlns:a="http://schemas.openxmlformats.org/drawingml/2006/main">
              <a:ext uri="{FF2B5EF4-FFF2-40B4-BE49-F238E27FC236}">
                <a16:creationId xmlns:a16="http://schemas.microsoft.com/office/drawing/2014/main" id="{DD1E650C-7F61-46C8-A72A-6B88680C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810250"/>
            <a:ext cx="328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9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9E73"/>
                </a:solidFill>
                <a:latin typeface="Microsoft YaHei"/>
                <a:ea typeface="Microsoft YaHei"/>
                <a:cs typeface="Microsoft YaHei"/>
              </a:rPr>
              <a:t>X 束腰：891 → 643 µm</a:t>
            </a:r>
          </a:p>
        </p:txBody>
      </p:sp>
      <p:sp>
        <p:nvSpPr>
          <p:cNvPr id="7" name="divergence-change">
            <a:extLst xmlns:a="http://schemas.openxmlformats.org/drawingml/2006/main">
              <a:ext uri="{FF2B5EF4-FFF2-40B4-BE49-F238E27FC236}">
                <a16:creationId xmlns:a16="http://schemas.microsoft.com/office/drawing/2014/main" id="{3B40173A-5E85-4619-BA48-3D728C7A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810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9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9E73"/>
                </a:solidFill>
                <a:latin typeface="Microsoft YaHei"/>
                <a:ea typeface="Microsoft YaHei"/>
                <a:cs typeface="Microsoft YaHei"/>
              </a:rPr>
              <a:t>X 发散：39.47 → 54.70 µm/mm</a:t>
            </a:r>
          </a:p>
        </p:txBody>
      </p:sp>
      <p:sp>
        <p:nvSpPr>
          <p:cNvPr id="8" name="m2-exact-values">
            <a:extLst xmlns:a="http://schemas.openxmlformats.org/drawingml/2006/main">
              <a:ext uri="{FF2B5EF4-FFF2-40B4-BE49-F238E27FC236}">
                <a16:creationId xmlns:a16="http://schemas.microsoft.com/office/drawing/2014/main" id="{59137100-2AB8-4D43-BCC9-AE33B69D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673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M²X=2.6065 / M²Y=1.6552</a:t>
            </a:r>
          </a:p>
          <a:p xmlns:a="http://schemas.openxmlformats.org/drawingml/2006/main">
            <a:pPr algn="ctr">
              <a:defRPr sz="1500" b="1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前后相同</a:t>
            </a:r>
          </a:p>
        </p:txBody>
      </p:sp>
    </p:spTree>
    <p:extLst>
      <p:ext uri="{BB962C8B-B14F-4D97-AF65-F5344CB8AC3E}">
        <p14:creationId xmlns:p14="http://schemas.microsoft.com/office/powerpoint/2010/main" val="16080872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A0963867-284E-4CC3-9850-F4726F40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287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在原焦点前 15.89 mm 加入 +50 mm 柱面镜</a:t>
            </a:r>
          </a:p>
        </p:txBody>
      </p:sp>
      <p:sp>
        <p:nvSpPr>
          <p:cNvPr id="2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5CA8B777-DCAA-4A59-A77D-B465229C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" name="optical-axis">
            <a:extLst xmlns:a="http://schemas.openxmlformats.org/drawingml/2006/main">
              <a:ext uri="{FF2B5EF4-FFF2-40B4-BE49-F238E27FC236}">
                <a16:creationId xmlns:a16="http://schemas.microsoft.com/office/drawing/2014/main" id="{F7DB12C3-2059-477B-B5A4-EE4C5128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dash"/>
          </a:ln>
        </p:spPr>
      </p:sp>
      <p:sp>
        <p:nvSpPr>
          <p:cNvPr id="4" name="beam-upper-1">
            <a:extLst xmlns:a="http://schemas.openxmlformats.org/drawingml/2006/main">
              <a:ext uri="{FF2B5EF4-FFF2-40B4-BE49-F238E27FC236}">
                <a16:creationId xmlns:a16="http://schemas.microsoft.com/office/drawing/2014/main" id="{91256F43-7601-4A37-B796-4FD51A97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33625"/>
            <a:ext cx="333375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beam-lower-1">
            <a:extLst xmlns:a="http://schemas.openxmlformats.org/drawingml/2006/main">
              <a:ext uri="{FF2B5EF4-FFF2-40B4-BE49-F238E27FC236}">
                <a16:creationId xmlns:a16="http://schemas.microsoft.com/office/drawing/2014/main" id="{B36AE0D9-2290-4DA8-9F06-71DAA6F4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619250" y="3381375"/>
            <a:ext cx="333375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6" name="beam-upper-2">
            <a:extLst xmlns:a="http://schemas.openxmlformats.org/drawingml/2006/main">
              <a:ext uri="{FF2B5EF4-FFF2-40B4-BE49-F238E27FC236}">
                <a16:creationId xmlns:a16="http://schemas.microsoft.com/office/drawing/2014/main" id="{483EAC33-2EFA-4240-A596-FB50AFBD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09875"/>
            <a:ext cx="314325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9E73"/>
            </a:solidFill>
            <a:prstDash val="solid"/>
          </a:ln>
        </p:spPr>
      </p:sp>
      <p:sp>
        <p:nvSpPr>
          <p:cNvPr id="7" name="beam-lower-2">
            <a:extLst xmlns:a="http://schemas.openxmlformats.org/drawingml/2006/main">
              <a:ext uri="{FF2B5EF4-FFF2-40B4-BE49-F238E27FC236}">
                <a16:creationId xmlns:a16="http://schemas.microsoft.com/office/drawing/2014/main" id="{BB15DF90-99AD-4E4F-985C-A91CAE32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953000" y="3095625"/>
            <a:ext cx="314325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9E73"/>
            </a:solidFill>
            <a:prstDash val="solid"/>
          </a:ln>
        </p:spPr>
      </p:sp>
      <p:sp>
        <p:nvSpPr>
          <p:cNvPr id="8" name="beam-upper-3">
            <a:extLst xmlns:a="http://schemas.openxmlformats.org/drawingml/2006/main">
              <a:ext uri="{FF2B5EF4-FFF2-40B4-BE49-F238E27FC236}">
                <a16:creationId xmlns:a16="http://schemas.microsoft.com/office/drawing/2014/main" id="{3ABDE0C0-2667-4119-81F8-3346244B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95625"/>
            <a:ext cx="238125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9E73"/>
            </a:solidFill>
            <a:prstDash val="solid"/>
          </a:ln>
        </p:spPr>
      </p:sp>
      <p:sp>
        <p:nvSpPr>
          <p:cNvPr id="9" name="beam-lower-3">
            <a:extLst xmlns:a="http://schemas.openxmlformats.org/drawingml/2006/main">
              <a:ext uri="{FF2B5EF4-FFF2-40B4-BE49-F238E27FC236}">
                <a16:creationId xmlns:a16="http://schemas.microsoft.com/office/drawing/2014/main" id="{0CAC5D3F-6B06-40A3-952D-82F4DEE9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096250" y="2476500"/>
            <a:ext cx="238125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9E73"/>
            </a:solidFill>
            <a:prstDash val="solid"/>
          </a:ln>
        </p:spPr>
      </p:sp>
      <p:sp>
        <p:nvSpPr>
          <p:cNvPr id="10" name="distance-bracket">
            <a:extLst xmlns:a="http://schemas.openxmlformats.org/drawingml/2006/main">
              <a:ext uri="{FF2B5EF4-FFF2-40B4-BE49-F238E27FC236}">
                <a16:creationId xmlns:a16="http://schemas.microsoft.com/office/drawing/2014/main" id="{1B5385A9-239A-4A4C-B754-80814733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2437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1" name="x-power-arrow">
            <a:extLst xmlns:a="http://schemas.openxmlformats.org/drawingml/2006/main">
              <a:ext uri="{FF2B5EF4-FFF2-40B4-BE49-F238E27FC236}">
                <a16:creationId xmlns:a16="http://schemas.microsoft.com/office/drawing/2014/main" id="{7F34DED2-E139-459B-8CE5-6EDB9C49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286375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2" name="y-axis-line">
            <a:extLst xmlns:a="http://schemas.openxmlformats.org/drawingml/2006/main">
              <a:ext uri="{FF2B5EF4-FFF2-40B4-BE49-F238E27FC236}">
                <a16:creationId xmlns:a16="http://schemas.microsoft.com/office/drawing/2014/main" id="{B23B9271-D7B1-4BF0-A986-DAA41626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714875"/>
            <a:ext cx="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F6670"/>
            </a:solidFill>
            <a:prstDash val="solid"/>
          </a:ln>
        </p:spPr>
      </p:sp>
      <p:sp>
        <p:nvSpPr>
          <p:cNvPr id="13" name="existing-optics">
            <a:extLst xmlns:a="http://schemas.openxmlformats.org/drawingml/2006/main">
              <a:ext uri="{FF2B5EF4-FFF2-40B4-BE49-F238E27FC236}">
                <a16:creationId xmlns:a16="http://schemas.microsoft.com/office/drawing/2014/main" id="{1A14A6FC-AD0E-48C5-92B6-CB258DED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38375"/>
            <a:ext cx="3048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4" name="cylindrical-lens">
            <a:extLst xmlns:a="http://schemas.openxmlformats.org/drawingml/2006/main">
              <a:ext uri="{FF2B5EF4-FFF2-40B4-BE49-F238E27FC236}">
                <a16:creationId xmlns:a16="http://schemas.microsoft.com/office/drawing/2014/main" id="{1B242879-8110-432A-A8D0-BB2A2C75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81250"/>
            <a:ext cx="228600" cy="1428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5" name="focus-point">
            <a:extLst xmlns:a="http://schemas.openxmlformats.org/drawingml/2006/main">
              <a:ext uri="{FF2B5EF4-FFF2-40B4-BE49-F238E27FC236}">
                <a16:creationId xmlns:a16="http://schemas.microsoft.com/office/drawing/2014/main" id="{3088F3D8-674F-4C2F-B621-88AD5DC8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990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6" name="camera-scan">
            <a:extLst xmlns:a="http://schemas.openxmlformats.org/drawingml/2006/main">
              <a:ext uri="{FF2B5EF4-FFF2-40B4-BE49-F238E27FC236}">
                <a16:creationId xmlns:a16="http://schemas.microsoft.com/office/drawing/2014/main" id="{44F98691-BF1C-41E6-9BE6-ACB80F16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86000"/>
            <a:ext cx="666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7" name="existing-label">
            <a:extLst xmlns:a="http://schemas.openxmlformats.org/drawingml/2006/main">
              <a:ext uri="{FF2B5EF4-FFF2-40B4-BE49-F238E27FC236}">
                <a16:creationId xmlns:a16="http://schemas.microsoft.com/office/drawing/2014/main" id="{51240962-FB90-4F05-AF81-28252801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1476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现有上游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聚焦光学</a:t>
            </a:r>
          </a:p>
        </p:txBody>
      </p:sp>
      <p:sp>
        <p:nvSpPr>
          <p:cNvPr id="18" name="lens-label">
            <a:extLst xmlns:a="http://schemas.openxmlformats.org/drawingml/2006/main">
              <a:ext uri="{FF2B5EF4-FFF2-40B4-BE49-F238E27FC236}">
                <a16:creationId xmlns:a16="http://schemas.microsoft.com/office/drawing/2014/main" id="{BF9B5103-3387-4C30-8247-5B28744D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66875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+50 mm ZnSe</a:t>
            </a:r>
          </a:p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10.6 µm AR</a:t>
            </a:r>
          </a:p>
        </p:txBody>
      </p:sp>
      <p:sp>
        <p:nvSpPr>
          <p:cNvPr id="19" name="lens-z-label">
            <a:extLst xmlns:a="http://schemas.openxmlformats.org/drawingml/2006/main">
              <a:ext uri="{FF2B5EF4-FFF2-40B4-BE49-F238E27FC236}">
                <a16:creationId xmlns:a16="http://schemas.microsoft.com/office/drawing/2014/main" id="{7E8914F0-05D1-48C1-A0ED-27FBBC42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052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镜片主平面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z = 219.43 mm</a:t>
            </a:r>
          </a:p>
        </p:txBody>
      </p:sp>
      <p:sp>
        <p:nvSpPr>
          <p:cNvPr id="20" name="focus-label">
            <a:extLst xmlns:a="http://schemas.openxmlformats.org/drawingml/2006/main">
              <a:ext uri="{FF2B5EF4-FFF2-40B4-BE49-F238E27FC236}">
                <a16:creationId xmlns:a16="http://schemas.microsoft.com/office/drawing/2014/main" id="{A2A722CC-B51C-4070-A8CF-8D45F1C5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666875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69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69F00"/>
                </a:solidFill>
                <a:latin typeface="Microsoft YaHei"/>
                <a:ea typeface="Microsoft YaHei"/>
                <a:cs typeface="Microsoft YaHei"/>
              </a:rPr>
              <a:t>新焦区中心</a:t>
            </a:r>
          </a:p>
          <a:p xmlns:a="http://schemas.openxmlformats.org/drawingml/2006/main">
            <a:pPr algn="ctr">
              <a:defRPr sz="1800" b="1">
                <a:solidFill>
                  <a:srgbClr val="E69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69F00"/>
                </a:solidFill>
                <a:latin typeface="Microsoft YaHei"/>
                <a:ea typeface="Microsoft YaHei"/>
                <a:cs typeface="Microsoft YaHei"/>
              </a:rPr>
              <a:t>z ≈ 235.32 mm</a:t>
            </a:r>
          </a:p>
        </p:txBody>
      </p:sp>
      <p:sp>
        <p:nvSpPr>
          <p:cNvPr id="21" name="distance-label">
            <a:extLst xmlns:a="http://schemas.openxmlformats.org/drawingml/2006/main">
              <a:ext uri="{FF2B5EF4-FFF2-40B4-BE49-F238E27FC236}">
                <a16:creationId xmlns:a16="http://schemas.microsoft.com/office/drawing/2014/main" id="{424B931E-BD16-4B25-8E55-7083952B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91050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7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15.89 mm</a:t>
            </a:r>
          </a:p>
        </p:txBody>
      </p:sp>
      <p:sp>
        <p:nvSpPr>
          <p:cNvPr id="22" name="camera-label">
            <a:extLst xmlns:a="http://schemas.openxmlformats.org/drawingml/2006/main">
              <a:ext uri="{FF2B5EF4-FFF2-40B4-BE49-F238E27FC236}">
                <a16:creationId xmlns:a16="http://schemas.microsoft.com/office/drawing/2014/main" id="{BBFF6FF2-7651-4D2D-98F4-E3B8ABE7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7162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相机扫描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z = 220–250 mm</a:t>
            </a:r>
          </a:p>
        </p:txBody>
      </p:sp>
      <p:sp>
        <p:nvSpPr>
          <p:cNvPr id="23" name="orientation-panel">
            <a:extLst xmlns:a="http://schemas.openxmlformats.org/drawingml/2006/main">
              <a:ext uri="{FF2B5EF4-FFF2-40B4-BE49-F238E27FC236}">
                <a16:creationId xmlns:a16="http://schemas.microsoft.com/office/drawing/2014/main" id="{1AC442C4-8F4E-4FD9-B350-97423914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619625"/>
            <a:ext cx="2952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orientation-title">
            <a:extLst xmlns:a="http://schemas.openxmlformats.org/drawingml/2006/main">
              <a:ext uri="{FF2B5EF4-FFF2-40B4-BE49-F238E27FC236}">
                <a16:creationId xmlns:a16="http://schemas.microsoft.com/office/drawing/2014/main" id="{E821F5F2-0FE7-4302-A76E-1D5C76B5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7815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镜片方向</a:t>
            </a:r>
          </a:p>
        </p:txBody>
      </p:sp>
      <p:sp>
        <p:nvSpPr>
          <p:cNvPr id="25" name="orientation-x-visible">
            <a:extLst xmlns:a="http://schemas.openxmlformats.org/drawingml/2006/main">
              <a:ext uri="{FF2B5EF4-FFF2-40B4-BE49-F238E27FC236}">
                <a16:creationId xmlns:a16="http://schemas.microsoft.com/office/drawing/2014/main" id="{6E4789E1-0B41-4742-8AFB-EE940DC8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05450"/>
            <a:ext cx="80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26" name="orientation-y-visible">
            <a:extLst xmlns:a="http://schemas.openxmlformats.org/drawingml/2006/main">
              <a:ext uri="{FF2B5EF4-FFF2-40B4-BE49-F238E27FC236}">
                <a16:creationId xmlns:a16="http://schemas.microsoft.com/office/drawing/2014/main" id="{F738A3B7-80B1-4B17-9DF0-34E1722C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162550"/>
            <a:ext cx="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F6670"/>
            </a:solidFill>
            <a:prstDash val="solid"/>
          </a:ln>
        </p:spPr>
      </p:sp>
      <p:sp>
        <p:nvSpPr>
          <p:cNvPr id="27" name="orientation-cylinder-icon">
            <a:extLst xmlns:a="http://schemas.openxmlformats.org/drawingml/2006/main">
              <a:ext uri="{FF2B5EF4-FFF2-40B4-BE49-F238E27FC236}">
                <a16:creationId xmlns:a16="http://schemas.microsoft.com/office/drawing/2014/main" id="{03B8FB4B-157A-45E2-B682-05C918B5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142875" cy="52387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8" name="x-orientation-label">
            <a:extLst xmlns:a="http://schemas.openxmlformats.org/drawingml/2006/main">
              <a:ext uri="{FF2B5EF4-FFF2-40B4-BE49-F238E27FC236}">
                <a16:creationId xmlns:a16="http://schemas.microsoft.com/office/drawing/2014/main" id="{1A4A5852-8D6D-48D4-9D07-91E95F9C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3149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X：有光焦度</a:t>
            </a:r>
          </a:p>
        </p:txBody>
      </p:sp>
      <p:sp>
        <p:nvSpPr>
          <p:cNvPr id="29" name="y-orientation-label">
            <a:extLst xmlns:a="http://schemas.openxmlformats.org/drawingml/2006/main">
              <a:ext uri="{FF2B5EF4-FFF2-40B4-BE49-F238E27FC236}">
                <a16:creationId xmlns:a16="http://schemas.microsoft.com/office/drawing/2014/main" id="{73E09D0D-43D0-41E8-B357-74D8715F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8578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Y：柱面母线 / 无光焦度</a:t>
            </a:r>
          </a:p>
        </p:txBody>
      </p:sp>
      <p:sp>
        <p:nvSpPr>
          <p:cNvPr id="30" name="coordinate-note">
            <a:extLst xmlns:a="http://schemas.openxmlformats.org/drawingml/2006/main">
              <a:ext uri="{FF2B5EF4-FFF2-40B4-BE49-F238E27FC236}">
                <a16:creationId xmlns:a16="http://schemas.microsoft.com/office/drawing/2014/main" id="{A59796D7-73E6-481B-85E1-5EC2E2ED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坐标要求：z 必须沿用原 CSV 文件夹的机械零点；若装调平台零点不同，只保持镜片到焦区中心约 15.9 mm 的相对关系。</a:t>
            </a:r>
          </a:p>
        </p:txBody>
      </p:sp>
    </p:spTree>
    <p:extLst>
      <p:ext uri="{BB962C8B-B14F-4D97-AF65-F5344CB8AC3E}">
        <p14:creationId xmlns:p14="http://schemas.microsoft.com/office/powerpoint/2010/main" val="11533601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BF84D16E-8325-4053-A479-CB1870B0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287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按三点复测和 ±1 mm 微调完成装调验收</a:t>
            </a:r>
          </a:p>
        </p:txBody>
      </p:sp>
      <p:sp>
        <p:nvSpPr>
          <p:cNvPr id="2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34E7EFA9-9CCD-490C-BD4D-4A5C5F8C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318605AD-54DD-4785-A5DD-824A2D5B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0512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4" name="step-dot-1">
            <a:extLst xmlns:a="http://schemas.openxmlformats.org/drawingml/2006/main">
              <a:ext uri="{FF2B5EF4-FFF2-40B4-BE49-F238E27FC236}">
                <a16:creationId xmlns:a16="http://schemas.microsoft.com/office/drawing/2014/main" id="{AA01979E-BFEB-42CC-B2A4-5395C385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81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37E869B-3A98-4B7E-8B4F-127D951C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860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E069E234-3CFC-4515-9078-3D757B77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86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安装</a:t>
            </a:r>
          </a:p>
        </p:txBody>
      </p:sp>
      <p:sp>
        <p:nvSpPr>
          <p:cNvPr id="7" name="step-body-1">
            <a:extLst xmlns:a="http://schemas.openxmlformats.org/drawingml/2006/main">
              <a:ext uri="{FF2B5EF4-FFF2-40B4-BE49-F238E27FC236}">
                <a16:creationId xmlns:a16="http://schemas.microsoft.com/office/drawing/2014/main" id="{1FE73899-C20D-4F6D-B9D8-2DE5057E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05250"/>
            <a:ext cx="2809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+50 mm ZnSe</a:t>
            </a:r>
          </a:p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镜片 z=219.43 mm</a:t>
            </a:r>
          </a:p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有效口径 ≥10 mm</a:t>
            </a:r>
          </a:p>
        </p:txBody>
      </p:sp>
      <p:sp>
        <p:nvSpPr>
          <p:cNvPr id="8" name="step-dot-2">
            <a:extLst xmlns:a="http://schemas.openxmlformats.org/drawingml/2006/main">
              <a:ext uri="{FF2B5EF4-FFF2-40B4-BE49-F238E27FC236}">
                <a16:creationId xmlns:a16="http://schemas.microsoft.com/office/drawing/2014/main" id="{16B6D699-4A34-41A8-B3C8-EF678502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81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44027753-E278-4708-B6DD-87312127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860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422FDD6D-0068-42F2-B124-4AD4BC9B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86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定向</a:t>
            </a:r>
          </a:p>
        </p:txBody>
      </p:sp>
      <p:sp>
        <p:nvSpPr>
          <p:cNvPr id="11" name="step-body-2">
            <a:extLst xmlns:a="http://schemas.openxmlformats.org/drawingml/2006/main">
              <a:ext uri="{FF2B5EF4-FFF2-40B4-BE49-F238E27FC236}">
                <a16:creationId xmlns:a16="http://schemas.microsoft.com/office/drawing/2014/main" id="{5E040529-4B65-436A-9D27-57B3D076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05250"/>
            <a:ext cx="2809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柱面母线沿 Y</a:t>
            </a:r>
          </a:p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有光焦度方向沿 X</a:t>
            </a:r>
          </a:p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旋转至长轴最小</a:t>
            </a:r>
          </a:p>
        </p:txBody>
      </p:sp>
      <p:sp>
        <p:nvSpPr>
          <p:cNvPr id="12" name="step-dot-3">
            <a:extLst xmlns:a="http://schemas.openxmlformats.org/drawingml/2006/main">
              <a:ext uri="{FF2B5EF4-FFF2-40B4-BE49-F238E27FC236}">
                <a16:creationId xmlns:a16="http://schemas.microsoft.com/office/drawing/2014/main" id="{A6EFD8AB-1507-4F51-8B8F-F9C57CDA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81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75EEF7D1-D5EA-4AA0-A342-9DC3F9D3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860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25E86A0F-8240-40AF-833B-172B5924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86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复测与微调</a:t>
            </a:r>
          </a:p>
        </p:txBody>
      </p:sp>
      <p:sp>
        <p:nvSpPr>
          <p:cNvPr id="15" name="step-body-3">
            <a:extLst xmlns:a="http://schemas.openxmlformats.org/drawingml/2006/main">
              <a:ext uri="{FF2B5EF4-FFF2-40B4-BE49-F238E27FC236}">
                <a16:creationId xmlns:a16="http://schemas.microsoft.com/office/drawing/2014/main" id="{328A6687-27E3-4BBC-B88A-EC1420E2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05250"/>
            <a:ext cx="2809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复测 z=220 / 235 / 250</a:t>
            </a:r>
          </a:p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镜片位置微调 ±1 mm</a:t>
            </a:r>
          </a:p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最小化三区间最大轴比</a:t>
            </a:r>
          </a:p>
        </p:txBody>
      </p:sp>
      <p:sp>
        <p:nvSpPr>
          <p:cNvPr id="16" name="acceptance-panel">
            <a:extLst xmlns:a="http://schemas.openxmlformats.org/drawingml/2006/main">
              <a:ext uri="{FF2B5EF4-FFF2-40B4-BE49-F238E27FC236}">
                <a16:creationId xmlns:a16="http://schemas.microsoft.com/office/drawing/2014/main" id="{7CF626FC-0B72-41C2-A839-5B7E0007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114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cceptance-text">
            <a:extLst xmlns:a="http://schemas.openxmlformats.org/drawingml/2006/main">
              <a:ext uri="{FF2B5EF4-FFF2-40B4-BE49-F238E27FC236}">
                <a16:creationId xmlns:a16="http://schemas.microsoft.com/office/drawing/2014/main" id="{5DE5E64B-E4FC-42A4-BCBB-75973654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0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验收目标：220–250 mm 内最大椭圆率 ≤1.30；若明显超差，优先检查主轴旋转、z 零点、镜片焦距公差及截光。</a:t>
            </a:r>
          </a:p>
        </p:txBody>
      </p:sp>
    </p:spTree>
    <p:extLst>
      <p:ext uri="{BB962C8B-B14F-4D97-AF65-F5344CB8AC3E}">
        <p14:creationId xmlns:p14="http://schemas.microsoft.com/office/powerpoint/2010/main" val="9008751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2026-08-10T15:56:35.5160000Z</dcterms:created>
  <dcterms:modified xsi:type="dcterms:W3CDTF">2026-08-10T15:56:35.5160000Z</dcterms:modified>
</coreProperties>
</file>