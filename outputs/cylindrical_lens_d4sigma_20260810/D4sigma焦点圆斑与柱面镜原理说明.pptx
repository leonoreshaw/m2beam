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f4d2aa9216e4f16" /><Relationship Type="http://schemas.openxmlformats.org/officeDocument/2006/relationships/extended-properties" Target="/docProps/app.xml" Id="R47e9e6d9fceb4c66" /><Relationship Type="http://schemas.openxmlformats.org/officeDocument/2006/relationships/officeDocument" Target="/ppt/presentation.xml" Id="R467268cb288e477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6c0d44ea9514b22"/>
  </p:sldMasterIdLst>
  <p:notesMasterIdLst>
    <p:notesMasterId xmlns:r="http://schemas.openxmlformats.org/officeDocument/2006/relationships" r:id="R5f8102e659da464b"/>
  </p:notesMasterIdLst>
  <p:sldIdLst>
    <p:sldId xmlns:r="http://schemas.openxmlformats.org/officeDocument/2006/relationships" id="256" r:id="Rd13a4d9fa99c42fb"/>
    <p:sldId xmlns:r="http://schemas.openxmlformats.org/officeDocument/2006/relationships" id="257" r:id="Rbe224b2e12674237"/>
    <p:sldId xmlns:r="http://schemas.openxmlformats.org/officeDocument/2006/relationships" id="258" r:id="Rd7d0496fd2c34b6b"/>
    <p:sldId xmlns:r="http://schemas.openxmlformats.org/officeDocument/2006/relationships" id="259" r:id="Rc721f7ff5dd94d70"/>
    <p:sldId xmlns:r="http://schemas.openxmlformats.org/officeDocument/2006/relationships" id="260" r:id="Rcd42e0acf1e74d58"/>
    <p:sldId xmlns:r="http://schemas.openxmlformats.org/officeDocument/2006/relationships" id="261" r:id="R42e308882ca64167"/>
    <p:sldId xmlns:r="http://schemas.openxmlformats.org/officeDocument/2006/relationships" id="262" r:id="R5bdf5f9227334f5a"/>
    <p:sldId xmlns:r="http://schemas.openxmlformats.org/officeDocument/2006/relationships" id="263" r:id="R30319b5fbee5446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507c9ed46a2455e" /><Relationship Type="http://schemas.openxmlformats.org/officeDocument/2006/relationships/slideMaster" Target="/ppt/slideMasters/slideMaster1.xml" Id="Rc6c0d44ea9514b22" /><Relationship Type="http://schemas.openxmlformats.org/officeDocument/2006/relationships/notesMaster" Target="/ppt/notesMasters/notesMaster1.xml" Id="R5f8102e659da464b" /><Relationship Type="http://schemas.openxmlformats.org/officeDocument/2006/relationships/presProps" Target="/ppt/presProps.xml" Id="Rc07b3cc0c3334e55" /><Relationship Type="http://schemas.openxmlformats.org/officeDocument/2006/relationships/tableStyles" Target="/ppt/tableStyles.xml" Id="R16149b5f800e44b6" /><Relationship Type="http://schemas.openxmlformats.org/officeDocument/2006/relationships/slide" Target="/ppt/slides/slide1.xml" Id="Rd13a4d9fa99c42fb" /><Relationship Type="http://schemas.openxmlformats.org/officeDocument/2006/relationships/slide" Target="/ppt/slides/slide2.xml" Id="Rbe224b2e12674237" /><Relationship Type="http://schemas.openxmlformats.org/officeDocument/2006/relationships/slide" Target="/ppt/slides/slide3.xml" Id="Rd7d0496fd2c34b6b" /><Relationship Type="http://schemas.openxmlformats.org/officeDocument/2006/relationships/slide" Target="/ppt/slides/slide4.xml" Id="Rc721f7ff5dd94d70" /><Relationship Type="http://schemas.openxmlformats.org/officeDocument/2006/relationships/slide" Target="/ppt/slides/slide5.xml" Id="Rcd42e0acf1e74d58" /><Relationship Type="http://schemas.openxmlformats.org/officeDocument/2006/relationships/slide" Target="/ppt/slides/slide6.xml" Id="R42e308882ca64167" /><Relationship Type="http://schemas.openxmlformats.org/officeDocument/2006/relationships/slide" Target="/ppt/slides/slide7.xml" Id="R5bdf5f9227334f5a" /><Relationship Type="http://schemas.openxmlformats.org/officeDocument/2006/relationships/slide" Target="/ppt/slides/slide8.xml" Id="R30319b5fbee5446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21b65d586b84e2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67a8b1545764eaf" /><Relationship Type="http://schemas.openxmlformats.org/officeDocument/2006/relationships/notesMaster" Target="/ppt/notesMasters/notesMaster1.xml" Id="Rff741a415c8a4db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988cfc07e794cea" /><Relationship Type="http://schemas.openxmlformats.org/officeDocument/2006/relationships/notesMaster" Target="/ppt/notesMasters/notesMaster1.xml" Id="R5e578d9aa17b4be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f1b585c57144e93" /><Relationship Type="http://schemas.openxmlformats.org/officeDocument/2006/relationships/notesMaster" Target="/ppt/notesMasters/notesMaster1.xml" Id="Rd97f5a29804e4e6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d1d750038fc4a06" /><Relationship Type="http://schemas.openxmlformats.org/officeDocument/2006/relationships/notesMaster" Target="/ppt/notesMasters/notesMaster1.xml" Id="Rb5c4c4538ac7448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ab4f02cc94149db" /><Relationship Type="http://schemas.openxmlformats.org/officeDocument/2006/relationships/notesMaster" Target="/ppt/notesMasters/notesMaster1.xml" Id="R453eb653ff7e418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b361a292b374b25" /><Relationship Type="http://schemas.openxmlformats.org/officeDocument/2006/relationships/notesMaster" Target="/ppt/notesMasters/notesMaster1.xml" Id="R1923c8ec3aa14de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b166386b76243a4" /><Relationship Type="http://schemas.openxmlformats.org/officeDocument/2006/relationships/notesMaster" Target="/ppt/notesMasters/notesMaster1.xml" Id="R0397b87736ba4e6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4394ce80b694a54" /><Relationship Type="http://schemas.openxmlformats.org/officeDocument/2006/relationships/notesMaster" Target="/ppt/notesMasters/notesMaster1.xml" Id="R7f7bd9a331a1487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本版将优化目标改为焦点附近圆斑，主方案由 +50 mm 宽区间方案切换为 +25.4 mm 单点匹配方案。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F:/CodexProjects/光斑图片/outputs/cylindrical_lens_d4sigma_20260810/fit_summary.csv</a:t>
            </a:r>
          </a:p>
          <a:p xmlns:a="http://schemas.openxmlformats.org/drawingml/2006/main">
            <a:r>
              <a:t>- F:/CodexProjects/光斑图片/outputs/cylindrical_lens_d4sigma_20260810/design_summary.csv</a:t>
            </a:r>
          </a:p>
          <a:p xmlns:a="http://schemas.openxmlformats.org/drawingml/2006/main">
            <a:r>
              <a:t>- F:/CodexProjects/光斑图片/outputs/cylindrical_lens_d4sigma_20260810/model_curves.csv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三项数字概括焦点优先方案：焦点轴比约 1，两个方向束腰约 515 µm，镜片位于焦点前约 12.70 mm。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F:/CodexProjects/光斑图片/outputs/cylindrical_lens_d4sigma_20260810/fit_summary.csv</a:t>
            </a:r>
          </a:p>
          <a:p xmlns:a="http://schemas.openxmlformats.org/drawingml/2006/main">
            <a:r>
              <a:t>- F:/CodexProjects/光斑图片/outputs/cylindrical_lens_d4sigma_20260810/design_summary.csv</a:t>
            </a:r>
          </a:p>
          <a:p xmlns:a="http://schemas.openxmlformats.org/drawingml/2006/main">
            <a:r>
              <a:t>- F:/CodexProjects/光斑图片/outputs/cylindrical_lens_d4sigma_20260810/model_curves.csv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绿色曲线显示单点匹配的典型形状：在焦点处达到约 1，随后因 X 发散更大而上升。+50 mm 方案仍适合要求整段均衡的场景，但不是本版主方案。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F:/CodexProjects/光斑图片/outputs/cylindrical_lens_d4sigma_20260810/fit_summary.csv</a:t>
            </a:r>
          </a:p>
          <a:p xmlns:a="http://schemas.openxmlformats.org/drawingml/2006/main">
            <a:r>
              <a:t>- F:/CodexProjects/光斑图片/outputs/cylindrical_lens_d4sigma_20260810/design_summary.csv</a:t>
            </a:r>
          </a:p>
          <a:p xmlns:a="http://schemas.openxmlformats.org/drawingml/2006/main">
            <a:r>
              <a:t>- F:/CodexProjects/光斑图片/outputs/cylindrical_lens_d4sigma_20260810/model_curves.csv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柱面镜沿一个横向方向具有曲率和光焦度，正交方向等效为平板。将柱面母线沿 Y 放置，则 X 方向的波前曲率被改变，Y 方向传播保持不变。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F:/CodexProjects/光斑图片/outputs/cylindrical_lens_d4sigma_20260810/fit_summary.csv</a:t>
            </a:r>
          </a:p>
          <a:p xmlns:a="http://schemas.openxmlformats.org/drawingml/2006/main">
            <a:r>
              <a:t>- F:/CodexProjects/光斑图片/outputs/cylindrical_lens_d4sigma_20260810/design_summary.csv</a:t>
            </a:r>
          </a:p>
          <a:p xmlns:a="http://schemas.openxmlformats.org/drawingml/2006/main">
            <a:r>
              <a:t>- F:/CodexProjects/光斑图片/outputs/cylindrical_lens_d4sigma_20260810/model_curves.csv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二阶矩矩阵 G 的对角元分别对应光束尺寸平方和角扩展平方，非对角元描述位置—角度相关性。自由传播矩阵 P 和薄透镜矩阵 L 通过 G′=A G Aᵀ 作用；det(G) 不变等价于 M² 不变。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F:/CodexProjects/光斑图片/outputs/cylindrical_lens_d4sigma_20260810/fit_summary.csv</a:t>
            </a:r>
          </a:p>
          <a:p xmlns:a="http://schemas.openxmlformats.org/drawingml/2006/main">
            <a:r>
              <a:t>- F:/CodexProjects/光斑图片/outputs/cylindrical_lens_d4sigma_20260810/design_summary.csv</a:t>
            </a:r>
          </a:p>
          <a:p xmlns:a="http://schemas.openxmlformats.org/drawingml/2006/main">
            <a:r>
              <a:t>- F:/CodexProjects/光斑图片/outputs/cylindrical_lens_d4sigma_20260810/model_curves.csv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左图证明理想无损柱面镜不会改变 M²。右图显示 X 焦散在焦点处与 Y 相交，但其斜率更陡，因此只保证焦点附近圆斑。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F:/CodexProjects/光斑图片/outputs/cylindrical_lens_d4sigma_20260810/fit_summary.csv</a:t>
            </a:r>
          </a:p>
          <a:p xmlns:a="http://schemas.openxmlformats.org/drawingml/2006/main">
            <a:r>
              <a:t>- F:/CodexProjects/光斑图片/outputs/cylindrical_lens_d4sigma_20260810/design_summary.csv</a:t>
            </a:r>
          </a:p>
          <a:p xmlns:a="http://schemas.openxmlformats.org/drawingml/2006/main">
            <a:r>
              <a:t>- F:/CodexProjects/光斑图片/outputs/cylindrical_lens_d4sigma_20260810/model_curves.csv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实施时将柱面镜的有光焦度方向对准原光斑长轴 X，母线沿 Y。若相机主轴随 z 旋转，应以焦点附近协方差矩阵的主特征轴为准调整镜片角度。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F:/CodexProjects/光斑图片/outputs/cylindrical_lens_d4sigma_20260810/fit_summary.csv</a:t>
            </a:r>
          </a:p>
          <a:p xmlns:a="http://schemas.openxmlformats.org/drawingml/2006/main">
            <a:r>
              <a:t>- F:/CodexProjects/光斑图片/outputs/cylindrical_lens_d4sigma_20260810/design_summary.csv</a:t>
            </a:r>
          </a:p>
          <a:p xmlns:a="http://schemas.openxmlformats.org/drawingml/2006/main">
            <a:r>
              <a:t>- F:/CodexProjects/光斑图片/outputs/cylindrical_lens_d4sigma_20260810/model_curves.csv</a:t>
            </a:r>
          </a:p>
          <a:p xmlns:a="http://schemas.openxmlformats.org/drawingml/2006/main">
            <a:r>
              <a:t>- https://www.lasercomponents.com/en/product/znse-lenses-for-co2-lasers/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验收标准与用户目标一致：焦点附近优先。模型在 z≈230 mm 为 1.124、z≈240 mm 为 1.088，±10 mm 最差约 1.274。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F:/CodexProjects/光斑图片/outputs/cylindrical_lens_d4sigma_20260810/fit_summary.csv</a:t>
            </a:r>
          </a:p>
          <a:p xmlns:a="http://schemas.openxmlformats.org/drawingml/2006/main">
            <a:r>
              <a:t>- F:/CodexProjects/光斑图片/outputs/cylindrical_lens_d4sigma_20260810/design_summary.csv</a:t>
            </a:r>
          </a:p>
          <a:p xmlns:a="http://schemas.openxmlformats.org/drawingml/2006/main">
            <a:r>
              <a:t>- F:/CodexProjects/光斑图片/outputs/cylindrical_lens_d4sigma_20260810/model_curves.csv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0a3f2355394fa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6291a90c0504d78" /><Relationship Type="http://schemas.openxmlformats.org/officeDocument/2006/relationships/slideLayout" Target="/ppt/slideLayouts/slideLayout1.xml" Id="Rd9b35c50439e4b2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9b35c50439e4b2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947c4193b64050" /><Relationship Type="http://schemas.openxmlformats.org/officeDocument/2006/relationships/notesSlide" Target="/ppt/notesSlides/notesSlide1.xml" Id="R6c228a4c31914f1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211bfa480d41f2" /><Relationship Type="http://schemas.openxmlformats.org/officeDocument/2006/relationships/notesSlide" Target="/ppt/notesSlides/notesSlide2.xml" Id="R087b54e454024c4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aeb38f6795491a" /><Relationship Type="http://schemas.openxmlformats.org/officeDocument/2006/relationships/chart" Target="/ppt/slides/charts/chart1.xml" Id="Rccad7db9d8e94ab6" /><Relationship Type="http://schemas.openxmlformats.org/officeDocument/2006/relationships/notesSlide" Target="/ppt/notesSlides/notesSlide3.xml" Id="R860d27ab148343e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4dd3e76f4e4ed0" /><Relationship Type="http://schemas.openxmlformats.org/officeDocument/2006/relationships/notesSlide" Target="/ppt/notesSlides/notesSlide4.xml" Id="R65dcd15c3043408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c50bc1abe84e46" /><Relationship Type="http://schemas.openxmlformats.org/officeDocument/2006/relationships/notesSlide" Target="/ppt/notesSlides/notesSlide5.xml" Id="R4b3c74f83258402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d46f912d67499a" /><Relationship Type="http://schemas.openxmlformats.org/officeDocument/2006/relationships/chart" Target="/ppt/slides/charts/chart2.xml" Id="R51d0a56661ef4ae0" /><Relationship Type="http://schemas.openxmlformats.org/officeDocument/2006/relationships/chart" Target="/ppt/slides/charts/chart3.xml" Id="Rb82be502c4d14010" /><Relationship Type="http://schemas.openxmlformats.org/officeDocument/2006/relationships/notesSlide" Target="/ppt/notesSlides/notesSlide6.xml" Id="R7f6268610c484bb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e980d3a909419f" /><Relationship Type="http://schemas.openxmlformats.org/officeDocument/2006/relationships/notesSlide" Target="/ppt/notesSlides/notesSlide7.xml" Id="R321b306658b54f1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8c25247f3446c2" /><Relationship Type="http://schemas.openxmlformats.org/officeDocument/2006/relationships/notesSlide" Target="/ppt/notesSlides/notesSlide8.xml" Id="Rf298870e6c5f4239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原始拟合</c:v>
          </c:tx>
          <c:spPr>
            <a:ln xmlns:a="http://schemas.openxmlformats.org/drawingml/2006/main" w="38100">
              <a:solidFill>
                <a:srgbClr val="5F6670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16"/>
              <c:pt idx="0">
                <c:v>220</c:v>
              </c:pt>
              <c:pt idx="1">
                <c:v>222</c:v>
              </c:pt>
              <c:pt idx="2">
                <c:v>224</c:v>
              </c:pt>
              <c:pt idx="3">
                <c:v>226</c:v>
              </c:pt>
              <c:pt idx="4">
                <c:v>228</c:v>
              </c:pt>
              <c:pt idx="5">
                <c:v>230</c:v>
              </c:pt>
              <c:pt idx="6">
                <c:v>232</c:v>
              </c:pt>
              <c:pt idx="7">
                <c:v>234</c:v>
              </c:pt>
              <c:pt idx="8">
                <c:v>236</c:v>
              </c:pt>
              <c:pt idx="9">
                <c:v>238</c:v>
              </c:pt>
              <c:pt idx="10">
                <c:v>240</c:v>
              </c:pt>
              <c:pt idx="11">
                <c:v>242</c:v>
              </c:pt>
              <c:pt idx="12">
                <c:v>244</c:v>
              </c:pt>
              <c:pt idx="13">
                <c:v>246</c:v>
              </c:pt>
              <c:pt idx="14">
                <c:v>248</c:v>
              </c:pt>
              <c:pt idx="15">
                <c:v>250</c:v>
              </c:pt>
            </c:numLit>
          </c:cat>
          <c:val>
            <c:numLit>
              <c:formatCode>0.00</c:formatCode>
              <c:ptCount val="21"/>
              <c:pt idx="0">
                <c:v>1.4450793722521151</c:v>
              </c:pt>
              <c:pt idx="1">
                <c:v>1.4827551986656808</c:v>
              </c:pt>
              <c:pt idx="2">
                <c:v>1.521370515285305</c:v>
              </c:pt>
              <c:pt idx="3">
                <c:v>1.5601522632918916</c:v>
              </c:pt>
              <c:pt idx="4">
                <c:v>1.598080911514042</c:v>
              </c:pt>
              <c:pt idx="5">
                <c:v>1.633896880860063</c:v>
              </c:pt>
              <c:pt idx="6">
                <c:v>1.6661490700010395</c:v>
              </c:pt>
              <c:pt idx="7">
                <c:v>1.6932964152472796</c:v>
              </c:pt>
              <c:pt idx="8">
                <c:v>1.7138618926849845</c:v>
              </c:pt>
              <c:pt idx="9">
                <c:v>1.7266198602676182</c:v>
              </c:pt>
              <c:pt idx="10">
                <c:v>1.730778293429601</c:v>
              </c:pt>
              <c:pt idx="11">
                <c:v>1.7261079207618637</c:v>
              </c:pt>
              <c:pt idx="12">
                <c:v>1.7129794517781767</c:v>
              </c:pt>
              <c:pt idx="13">
                <c:v>1.6922973096648133</c:v>
              </c:pt>
              <c:pt idx="14">
                <c:v>1.665351196319195</c:v>
              </c:pt>
              <c:pt idx="15">
                <c:v>1.6336291428256187</c:v>
              </c:pt>
              <c:pt idx="16">
                <c:v>1.5986384776731841</c:v>
              </c:pt>
              <c:pt idx="17">
                <c:v>1.561767433547056</c:v>
              </c:pt>
              <c:pt idx="18">
                <c:v>1.5242002355463775</c:v>
              </c:pt>
              <c:pt idx="19">
                <c:v>1.4868820040792419</c:v>
              </c:pt>
              <c:pt idx="20">
                <c:v>1.4505209004536264</c:v>
              </c:pt>
            </c:numLit>
          </c:val>
        </c:ser>
        <c:ser>
          <c:idx val="1"/>
          <c:order val="1"/>
          <c:tx>
            <c:v>+25.4 mm 焦点方案</c:v>
          </c:tx>
          <c:spPr>
            <a:ln xmlns:a="http://schemas.openxmlformats.org/drawingml/2006/main" w="38100">
              <a:solidFill>
                <a:srgbClr val="009E73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16"/>
              <c:pt idx="0">
                <c:v>220</c:v>
              </c:pt>
              <c:pt idx="1">
                <c:v>222</c:v>
              </c:pt>
              <c:pt idx="2">
                <c:v>224</c:v>
              </c:pt>
              <c:pt idx="3">
                <c:v>226</c:v>
              </c:pt>
              <c:pt idx="4">
                <c:v>228</c:v>
              </c:pt>
              <c:pt idx="5">
                <c:v>230</c:v>
              </c:pt>
              <c:pt idx="6">
                <c:v>232</c:v>
              </c:pt>
              <c:pt idx="7">
                <c:v>234</c:v>
              </c:pt>
              <c:pt idx="8">
                <c:v>236</c:v>
              </c:pt>
              <c:pt idx="9">
                <c:v>238</c:v>
              </c:pt>
              <c:pt idx="10">
                <c:v>240</c:v>
              </c:pt>
              <c:pt idx="11">
                <c:v>242</c:v>
              </c:pt>
              <c:pt idx="12">
                <c:v>244</c:v>
              </c:pt>
              <c:pt idx="13">
                <c:v>246</c:v>
              </c:pt>
              <c:pt idx="14">
                <c:v>248</c:v>
              </c:pt>
              <c:pt idx="15">
                <c:v>250</c:v>
              </c:pt>
            </c:numLit>
          </c:cat>
          <c:val>
            <c:numLit>
              <c:formatCode>0.00</c:formatCode>
              <c:ptCount val="21"/>
              <c:pt idx="0">
                <c:v>1.2737900377289653</c:v>
              </c:pt>
              <c:pt idx="1">
                <c:v>1.243832441686499</c:v>
              </c:pt>
              <c:pt idx="2">
                <c:v>1.211513045095464</c:v>
              </c:pt>
              <c:pt idx="3">
                <c:v>1.1772710367789612</c:v>
              </c:pt>
              <c:pt idx="4">
                <c:v>1.141894103224974</c:v>
              </c:pt>
              <c:pt idx="5">
                <c:v>1.1066025961454562</c:v>
              </c:pt>
              <c:pt idx="6">
                <c:v>1.0730896701213046</c:v>
              </c:pt>
              <c:pt idx="7">
                <c:v>1.0434649554762092</c:v>
              </c:pt>
              <c:pt idx="8">
                <c:v>1.020048354071073</c:v>
              </c:pt>
              <c:pt idx="9">
                <c:v>1.0049981071011738</c:v>
              </c:pt>
              <c:pt idx="10">
                <c:v>1.0001564700659613</c:v>
              </c:pt>
              <c:pt idx="11">
                <c:v>1.005089593034137</c:v>
              </c:pt>
              <c:pt idx="12">
                <c:v>1.020078213417985</c:v>
              </c:pt>
              <c:pt idx="13">
                <c:v>1.0431791613379842</c:v>
              </c:pt>
              <c:pt idx="14">
                <c:v>1.0722098376696163</c:v>
              </c:pt>
              <c:pt idx="15">
                <c:v>1.1048930631535994</c:v>
              </c:pt>
              <c:pt idx="16">
                <c:v>1.1392002054335444</c:v>
              </c:pt>
              <c:pt idx="17">
                <c:v>1.1735276271478827</c:v>
              </c:pt>
              <c:pt idx="18">
                <c:v>1.206732775738942</c:v>
              </c:pt>
              <c:pt idx="19">
                <c:v>1.2380849657930868</c:v>
              </c:pt>
              <c:pt idx="20">
                <c:v>1.2671802984844358</c:v>
              </c:pt>
            </c:numLit>
          </c:val>
        </c:ser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111111"/>
                    </a:solidFill>
                  </a:rPr>
                  <a:t>z (mm)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111111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F667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.8"/>
          <c:min val="1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111111"/>
                    </a:solidFill>
                  </a:rPr>
                  <a:t>椭圆率 = 长轴/短轴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111111"/>
                  </a:solidFill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F6670"/>
                </a:solidFill>
              </a:defRPr>
            </a:pPr>
          </a:p>
        </c:txPr>
        <c:crossAx val="48650112"/>
        <c:crossBetween val="between"/>
        <c:majorUnit val="0.2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111111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加镜前</c:v>
          </c:tx>
          <c:spPr>
            <a:solidFill xmlns:a="http://schemas.openxmlformats.org/drawingml/2006/main">
              <a:srgbClr val="5F6670"/>
            </a:solidFill>
          </c:spPr>
          <c:cat>
            <c:strLit>
              <c:ptCount val="2"/>
              <c:pt idx="0">
                <c:v>X</c:v>
              </c:pt>
              <c:pt idx="1">
                <c:v>Y</c:v>
              </c:pt>
            </c:strLit>
          </c:cat>
          <c:val>
            <c:numLit>
              <c:formatCode>0.0</c:formatCode>
              <c:ptCount val="2"/>
              <c:pt idx="0">
                <c:v>2.6064996435745478</c:v>
              </c:pt>
              <c:pt idx="1">
                <c:v>1.6552010229690728</c:v>
              </c:pt>
            </c:numLit>
          </c:val>
        </c:ser>
        <c:ser>
          <c:idx val="1"/>
          <c:order val="1"/>
          <c:tx>
            <c:v>加镜后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2"/>
              <c:pt idx="0">
                <c:v>X</c:v>
              </c:pt>
              <c:pt idx="1">
                <c:v>Y</c:v>
              </c:pt>
            </c:strLit>
          </c:cat>
          <c:val>
            <c:numLit>
              <c:formatCode>0.0</c:formatCode>
              <c:ptCount val="2"/>
              <c:pt idx="0">
                <c:v>2.6064996435745478</c:v>
              </c:pt>
              <c:pt idx="1">
                <c:v>1.6552010229690728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11111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111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3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111111"/>
                    </a:solidFill>
                  </a:rPr>
                  <a:t>M²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111111"/>
                  </a:solidFill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F6670"/>
                </a:solidFill>
              </a:defRPr>
            </a:pPr>
          </a:p>
        </c:txPr>
        <c:crossAx val="48650112"/>
        <c:crossBetween val="between"/>
        <c:majorUnit val="0.5"/>
      </c:valAx>
      <c:spPr>
        <a:noFill xmlns:a="http://schemas.openxmlformats.org/drawingml/2006/main"/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111111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原始 X</c:v>
          </c:tx>
          <c:spPr>
            <a:ln xmlns:a="http://schemas.openxmlformats.org/drawingml/2006/main" w="28575">
              <a:solidFill>
                <a:srgbClr val="D55E00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16"/>
              <c:pt idx="0">
                <c:v>220</c:v>
              </c:pt>
              <c:pt idx="1">
                <c:v>222</c:v>
              </c:pt>
              <c:pt idx="2">
                <c:v>224</c:v>
              </c:pt>
              <c:pt idx="3">
                <c:v>226</c:v>
              </c:pt>
              <c:pt idx="4">
                <c:v>228</c:v>
              </c:pt>
              <c:pt idx="5">
                <c:v>230</c:v>
              </c:pt>
              <c:pt idx="6">
                <c:v>232</c:v>
              </c:pt>
              <c:pt idx="7">
                <c:v>234</c:v>
              </c:pt>
              <c:pt idx="8">
                <c:v>236</c:v>
              </c:pt>
              <c:pt idx="9">
                <c:v>238</c:v>
              </c:pt>
              <c:pt idx="10">
                <c:v>240</c:v>
              </c:pt>
              <c:pt idx="11">
                <c:v>242</c:v>
              </c:pt>
              <c:pt idx="12">
                <c:v>244</c:v>
              </c:pt>
              <c:pt idx="13">
                <c:v>246</c:v>
              </c:pt>
              <c:pt idx="14">
                <c:v>248</c:v>
              </c:pt>
              <c:pt idx="15">
                <c:v>250</c:v>
              </c:pt>
            </c:numLit>
          </c:cat>
          <c:val>
            <c:numLit>
              <c:formatCode>0</c:formatCode>
              <c:ptCount val="14"/>
              <c:pt idx="0">
                <c:v>990.200881275454</c:v>
              </c:pt>
              <c:pt idx="1">
                <c:v>958.4276849085666</c:v>
              </c:pt>
              <c:pt idx="2">
                <c:v>932.2738882749384</c:v>
              </c:pt>
              <c:pt idx="3">
                <c:v>912.2229507959764</c:v>
              </c:pt>
              <c:pt idx="4">
                <c:v>898.6834563950385</c:v>
              </c:pt>
              <c:pt idx="5">
                <c:v>891.9519781226547</c:v>
              </c:pt>
              <c:pt idx="6">
                <c:v>892.182627826427</c:v>
              </c:pt>
              <c:pt idx="7">
                <c:v>899.3700490638934</c:v>
              </c:pt>
              <c:pt idx="8">
                <c:v>913.350021925154</c:v>
              </c:pt>
              <c:pt idx="9">
                <c:v>933.8175269225446</c:v>
              </c:pt>
              <c:pt idx="10">
                <c:v>960.3578594796651</c:v>
              </c:pt>
              <c:pt idx="11">
                <c:v>992.4839528075805</c:v>
              </c:pt>
              <c:pt idx="12">
                <c:v>1029.6731076105289</c:v>
              </c:pt>
              <c:pt idx="13">
                <c:v>1071.398223879271</c:v>
              </c:pt>
            </c:numLit>
          </c:val>
        </c:ser>
        <c:ser>
          <c:idx val="1"/>
          <c:order val="1"/>
          <c:tx>
            <c:v>Y（不变）</c:v>
          </c:tx>
          <c:spPr>
            <a:ln xmlns:a="http://schemas.openxmlformats.org/drawingml/2006/main" w="28575">
              <a:solidFill>
                <a:srgbClr val="3D8DFF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16"/>
              <c:pt idx="0">
                <c:v>220</c:v>
              </c:pt>
              <c:pt idx="1">
                <c:v>222</c:v>
              </c:pt>
              <c:pt idx="2">
                <c:v>224</c:v>
              </c:pt>
              <c:pt idx="3">
                <c:v>226</c:v>
              </c:pt>
              <c:pt idx="4">
                <c:v>228</c:v>
              </c:pt>
              <c:pt idx="5">
                <c:v>230</c:v>
              </c:pt>
              <c:pt idx="6">
                <c:v>232</c:v>
              </c:pt>
              <c:pt idx="7">
                <c:v>234</c:v>
              </c:pt>
              <c:pt idx="8">
                <c:v>236</c:v>
              </c:pt>
              <c:pt idx="9">
                <c:v>238</c:v>
              </c:pt>
              <c:pt idx="10">
                <c:v>240</c:v>
              </c:pt>
              <c:pt idx="11">
                <c:v>242</c:v>
              </c:pt>
              <c:pt idx="12">
                <c:v>244</c:v>
              </c:pt>
              <c:pt idx="13">
                <c:v>246</c:v>
              </c:pt>
              <c:pt idx="14">
                <c:v>248</c:v>
              </c:pt>
              <c:pt idx="15">
                <c:v>250</c:v>
              </c:pt>
            </c:numLit>
          </c:cat>
          <c:val>
            <c:numLit>
              <c:formatCode>0</c:formatCode>
              <c:ptCount val="14"/>
              <c:pt idx="0">
                <c:v>711.6213858196867</c:v>
              </c:pt>
              <c:pt idx="1">
                <c:v>654.7707397963833</c:v>
              </c:pt>
              <c:pt idx="2">
                <c:v>605.0589534116631</c:v>
              </c:pt>
              <c:pt idx="3">
                <c:v>564.3756222466324</c:v>
              </c:pt>
              <c:pt idx="4">
                <c:v>534.785227302954</c:v>
              </c:pt>
              <c:pt idx="5">
                <c:v>518.191592144463</c:v>
              </c:pt>
              <c:pt idx="6">
                <c:v>515.8504661910242</c:v>
              </c:pt>
              <c:pt idx="7">
                <c:v>527.9514856900424</c:v>
              </c:pt>
              <c:pt idx="8">
                <c:v>553.5483081788719</c:v>
              </c:pt>
              <c:pt idx="9">
                <c:v>590.8896497702445</c:v>
              </c:pt>
              <c:pt idx="10">
                <c:v>637.916387464733</c:v>
              </c:pt>
              <c:pt idx="11">
                <c:v>692.658607871909</c:v>
              </c:pt>
              <c:pt idx="12">
                <c:v>753.4364387223311</c:v>
              </c:pt>
              <c:pt idx="13">
                <c:v>818.9071240395149</c:v>
              </c:pt>
            </c:numLit>
          </c:val>
        </c:ser>
        <c:ser>
          <c:idx val="2"/>
          <c:order val="2"/>
          <c:tx>
            <c:v>焦点方案 X</c:v>
          </c:tx>
          <c:spPr>
            <a:ln xmlns:a="http://schemas.openxmlformats.org/drawingml/2006/main" w="38100">
              <a:solidFill>
                <a:srgbClr val="009E73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16"/>
              <c:pt idx="0">
                <c:v>220</c:v>
              </c:pt>
              <c:pt idx="1">
                <c:v>222</c:v>
              </c:pt>
              <c:pt idx="2">
                <c:v>224</c:v>
              </c:pt>
              <c:pt idx="3">
                <c:v>226</c:v>
              </c:pt>
              <c:pt idx="4">
                <c:v>228</c:v>
              </c:pt>
              <c:pt idx="5">
                <c:v>230</c:v>
              </c:pt>
              <c:pt idx="6">
                <c:v>232</c:v>
              </c:pt>
              <c:pt idx="7">
                <c:v>234</c:v>
              </c:pt>
              <c:pt idx="8">
                <c:v>236</c:v>
              </c:pt>
              <c:pt idx="9">
                <c:v>238</c:v>
              </c:pt>
              <c:pt idx="10">
                <c:v>240</c:v>
              </c:pt>
              <c:pt idx="11">
                <c:v>242</c:v>
              </c:pt>
              <c:pt idx="12">
                <c:v>244</c:v>
              </c:pt>
              <c:pt idx="13">
                <c:v>246</c:v>
              </c:pt>
              <c:pt idx="14">
                <c:v>248</c:v>
              </c:pt>
              <c:pt idx="15">
                <c:v>250</c:v>
              </c:pt>
            </c:numLit>
          </c:cat>
          <c:val>
            <c:numLit>
              <c:formatCode>0</c:formatCode>
              <c:ptCount val="14"/>
              <c:pt idx="0">
                <c:v>935.0328325737951</c:v>
              </c:pt>
              <c:pt idx="1">
                <c:v>824.436815036431</c:v>
              </c:pt>
              <c:pt idx="2">
                <c:v>722.7988264134758</c:v>
              </c:pt>
              <c:pt idx="3">
                <c:v>634.438840569227</c:v>
              </c:pt>
              <c:pt idx="4">
                <c:v>565.6143198874972</c:v>
              </c:pt>
              <c:pt idx="5">
                <c:v>524.0790901969001</c:v>
              </c:pt>
              <c:pt idx="6">
                <c:v>516.4597217424307</c:v>
              </c:pt>
              <c:pt idx="7">
                <c:v>544.1827019152405</c:v>
              </c:pt>
              <c:pt idx="8">
                <c:v>602.3880804150405</c:v>
              </c:pt>
              <c:pt idx="9">
                <c:v>683.330376369518</c:v>
              </c:pt>
              <c:pt idx="10">
                <c:v>779.9627071811449</c:v>
              </c:pt>
              <c:pt idx="11">
                <c:v>887.1728486592777</c:v>
              </c:pt>
              <c:pt idx="12">
                <c:v>1001.5697278192561</c:v>
              </c:pt>
              <c:pt idx="13">
                <c:v>1120.9552147389759</c:v>
              </c:pt>
            </c:numLit>
          </c:val>
        </c:ser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111111"/>
                    </a:solidFill>
                  </a:rPr>
                  <a:t>z (mm)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111111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F667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8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111111"/>
                    </a:solidFill>
                  </a:rPr>
                  <a:t>D4σ (µm)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111111"/>
                  </a:solidFill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F6670"/>
                </a:solidFill>
              </a:defRPr>
            </a:pPr>
          </a:p>
        </c:txPr>
        <c:crossAx val="48650112"/>
        <c:crossBetween val="between"/>
        <c:majorUnit val="300"/>
      </c:valAx>
      <c:spPr>
        <a:noFill xmlns:a="http://schemas.openxmlformats.org/drawingml/2006/main"/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111111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079316D1-A65A-4EC8-9179-50F629EA0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D4σ / M² CAUSTIC ANALYSIS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2DD9C092-F9B0-420B-9BA8-A7FC0E13F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66875"/>
            <a:ext cx="8572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焦点优先的 D4σ 椭圆率</a:t>
            </a:r>
          </a:p>
          <a:p xmlns:a="http://schemas.openxmlformats.org/drawingml/2006/main">
            <a:pPr algn="l">
              <a:buNone/>
              <a:defRPr sz="5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柱面镜修正方案</a:t>
            </a:r>
          </a:p>
        </p:txBody>
      </p:sp>
      <p:sp>
        <p:nvSpPr>
          <p:cNvPr id="3" name="cover-rule">
            <a:extLst xmlns:a="http://schemas.openxmlformats.org/drawingml/2006/main">
              <a:ext uri="{FF2B5EF4-FFF2-40B4-BE49-F238E27FC236}">
                <a16:creationId xmlns:a16="http://schemas.microsoft.com/office/drawing/2014/main" id="{9106B2FA-FC1F-4B54-AA26-0C3E6C0F5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57700"/>
            <a:ext cx="400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D8DFF"/>
            </a:solidFill>
            <a:prstDash val="solid"/>
          </a:ln>
        </p:spPr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98483228-4571-4F11-865A-55BAC7221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+25.4 mm ZnSe 柱面镜 · z≈222.62 mm · 焦点椭圆率≈1.000</a:t>
            </a:r>
          </a:p>
        </p:txBody>
      </p:sp>
      <p:sp>
        <p:nvSpPr>
          <p:cNvPr id="5" name="cover-method">
            <a:extLst xmlns:a="http://schemas.openxmlformats.org/drawingml/2006/main">
              <a:ext uri="{FF2B5EF4-FFF2-40B4-BE49-F238E27FC236}">
                <a16:creationId xmlns:a16="http://schemas.microsoft.com/office/drawing/2014/main" id="{6B5D01A1-72DF-4F7E-90B9-552623ACF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目标：不追求整段最优，只让 z≈235.32 mm 的焦点附近接近圆斑</a:t>
            </a:r>
          </a:p>
        </p:txBody>
      </p:sp>
    </p:spTree>
    <p:extLst>
      <p:ext uri="{BB962C8B-B14F-4D97-AF65-F5344CB8AC3E}">
        <p14:creationId xmlns:p14="http://schemas.microsoft.com/office/powerpoint/2010/main" val="1336406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294791CC-DDD6-4337-A422-00E819FC5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287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焦点附近可做到 1.000；代价是离焦后更快变椭圆</a:t>
            </a:r>
          </a:p>
        </p:txBody>
      </p:sp>
      <p:sp>
        <p:nvSpPr>
          <p:cNvPr id="2" name="slide-2-number">
            <a:extLst xmlns:a="http://schemas.openxmlformats.org/drawingml/2006/main">
              <a:ext uri="{FF2B5EF4-FFF2-40B4-BE49-F238E27FC236}">
                <a16:creationId xmlns:a16="http://schemas.microsoft.com/office/drawing/2014/main" id="{F9042CB5-0886-40ED-A73E-6C036FAC0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865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3" name="summary-explanation">
            <a:extLst xmlns:a="http://schemas.openxmlformats.org/drawingml/2006/main">
              <a:ext uri="{FF2B5EF4-FFF2-40B4-BE49-F238E27FC236}">
                <a16:creationId xmlns:a16="http://schemas.microsoft.com/office/drawing/2014/main" id="{273660DE-DBE1-4877-8DEA-55879180F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11144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柱面镜只修正 X 方向：把 X 束腰直径和束腰位置同时对齐 Y 方向。由于 M² 不变，X 发散角必须增大，因此本方案专门服务于焦点附近，而不是 220–250 mm 整段。</a:t>
            </a:r>
          </a:p>
        </p:txBody>
      </p:sp>
      <p:sp>
        <p:nvSpPr>
          <p:cNvPr id="4" name="metric-panel-1">
            <a:extLst xmlns:a="http://schemas.openxmlformats.org/drawingml/2006/main">
              <a:ext uri="{FF2B5EF4-FFF2-40B4-BE49-F238E27FC236}">
                <a16:creationId xmlns:a16="http://schemas.microsoft.com/office/drawing/2014/main" id="{A0A35BCE-FB0E-4D1C-A17E-E5055CEC7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00375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metric-accent-1">
            <a:extLst xmlns:a="http://schemas.openxmlformats.org/drawingml/2006/main">
              <a:ext uri="{FF2B5EF4-FFF2-40B4-BE49-F238E27FC236}">
                <a16:creationId xmlns:a16="http://schemas.microsoft.com/office/drawing/2014/main" id="{A489DED6-1A7B-47FD-B6B3-07F036F33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00375"/>
            <a:ext cx="1143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metric-stat-1">
            <a:extLst xmlns:a="http://schemas.openxmlformats.org/drawingml/2006/main">
              <a:ext uri="{FF2B5EF4-FFF2-40B4-BE49-F238E27FC236}">
                <a16:creationId xmlns:a16="http://schemas.microsoft.com/office/drawing/2014/main" id="{5811E882-074D-4829-8F04-D614F3736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304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≈1.000</a:t>
            </a:r>
          </a:p>
        </p:txBody>
      </p:sp>
      <p:sp>
        <p:nvSpPr>
          <p:cNvPr id="7" name="metric-label-1">
            <a:extLst xmlns:a="http://schemas.openxmlformats.org/drawingml/2006/main">
              <a:ext uri="{FF2B5EF4-FFF2-40B4-BE49-F238E27FC236}">
                <a16:creationId xmlns:a16="http://schemas.microsoft.com/office/drawing/2014/main" id="{6775919C-9ED9-4339-A495-5507BEACE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05375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z≈235.32 mm 焦点椭圆率</a:t>
            </a:r>
          </a:p>
        </p:txBody>
      </p:sp>
      <p:sp>
        <p:nvSpPr>
          <p:cNvPr id="8" name="metric-panel-2">
            <a:extLst xmlns:a="http://schemas.openxmlformats.org/drawingml/2006/main">
              <a:ext uri="{FF2B5EF4-FFF2-40B4-BE49-F238E27FC236}">
                <a16:creationId xmlns:a16="http://schemas.microsoft.com/office/drawing/2014/main" id="{8229E3A7-21F6-401B-9A37-659208064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000375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metric-accent-2">
            <a:extLst xmlns:a="http://schemas.openxmlformats.org/drawingml/2006/main">
              <a:ext uri="{FF2B5EF4-FFF2-40B4-BE49-F238E27FC236}">
                <a16:creationId xmlns:a16="http://schemas.microsoft.com/office/drawing/2014/main" id="{02FF791D-C561-4938-8CE0-495F4C397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000375"/>
            <a:ext cx="1143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E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metric-stat-2">
            <a:extLst xmlns:a="http://schemas.openxmlformats.org/drawingml/2006/main">
              <a:ext uri="{FF2B5EF4-FFF2-40B4-BE49-F238E27FC236}">
                <a16:creationId xmlns:a16="http://schemas.microsoft.com/office/drawing/2014/main" id="{4F6A1A69-6C02-4625-ACB3-A704E19D2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571875"/>
            <a:ext cx="304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9937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9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09E73"/>
                </a:solidFill>
                <a:latin typeface="Microsoft YaHei"/>
                <a:ea typeface="Microsoft YaHei"/>
                <a:cs typeface="Microsoft YaHei"/>
              </a:rPr>
              <a:t>515 / 515 µm</a:t>
            </a:r>
          </a:p>
        </p:txBody>
      </p:sp>
      <p:sp>
        <p:nvSpPr>
          <p:cNvPr id="11" name="metric-label-2">
            <a:extLst xmlns:a="http://schemas.openxmlformats.org/drawingml/2006/main">
              <a:ext uri="{FF2B5EF4-FFF2-40B4-BE49-F238E27FC236}">
                <a16:creationId xmlns:a16="http://schemas.microsoft.com/office/drawing/2014/main" id="{06C3198F-FF8E-493C-AA91-86A490C15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905375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焦点 X / Y 的 D4σ 直径</a:t>
            </a:r>
          </a:p>
        </p:txBody>
      </p:sp>
      <p:sp>
        <p:nvSpPr>
          <p:cNvPr id="12" name="metric-panel-3">
            <a:extLst xmlns:a="http://schemas.openxmlformats.org/drawingml/2006/main">
              <a:ext uri="{FF2B5EF4-FFF2-40B4-BE49-F238E27FC236}">
                <a16:creationId xmlns:a16="http://schemas.microsoft.com/office/drawing/2014/main" id="{E174CBD6-35E1-4D88-9E9A-69DEB6223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00375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metric-accent-3">
            <a:extLst xmlns:a="http://schemas.openxmlformats.org/drawingml/2006/main">
              <a:ext uri="{FF2B5EF4-FFF2-40B4-BE49-F238E27FC236}">
                <a16:creationId xmlns:a16="http://schemas.microsoft.com/office/drawing/2014/main" id="{8D7D8084-F0B0-4621-9E42-B61B0E1F1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00375"/>
            <a:ext cx="1143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9F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metric-stat-3">
            <a:extLst xmlns:a="http://schemas.openxmlformats.org/drawingml/2006/main">
              <a:ext uri="{FF2B5EF4-FFF2-40B4-BE49-F238E27FC236}">
                <a16:creationId xmlns:a16="http://schemas.microsoft.com/office/drawing/2014/main" id="{6DC99BC7-DD28-45BC-950C-8FE2C6D95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571875"/>
            <a:ext cx="304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E69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E69F00"/>
                </a:solidFill>
                <a:latin typeface="Microsoft YaHei"/>
                <a:ea typeface="Microsoft YaHei"/>
                <a:cs typeface="Microsoft YaHei"/>
              </a:rPr>
              <a:t>+25.4 mm</a:t>
            </a:r>
          </a:p>
        </p:txBody>
      </p:sp>
      <p:sp>
        <p:nvSpPr>
          <p:cNvPr id="15" name="metric-label-3">
            <a:extLst xmlns:a="http://schemas.openxmlformats.org/drawingml/2006/main">
              <a:ext uri="{FF2B5EF4-FFF2-40B4-BE49-F238E27FC236}">
                <a16:creationId xmlns:a16="http://schemas.microsoft.com/office/drawing/2014/main" id="{75F829C6-DBCF-4BE0-8035-2A334C5CE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905375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标准 ZnSe 柱面镜；距焦点 12.70 mm</a:t>
            </a:r>
          </a:p>
        </p:txBody>
      </p:sp>
    </p:spTree>
    <p:extLst>
      <p:ext uri="{BB962C8B-B14F-4D97-AF65-F5344CB8AC3E}">
        <p14:creationId xmlns:p14="http://schemas.microsoft.com/office/powerpoint/2010/main" val="4891856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8E686A50-BA39-401C-BDEE-D76CD039D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287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焦点附近轴比接近 1；离开焦点后按设计允许回升</a:t>
            </a:r>
          </a:p>
        </p:txBody>
      </p:sp>
      <p:sp>
        <p:nvSpPr>
          <p:cNvPr id="2" name="slide-3-number">
            <a:extLst xmlns:a="http://schemas.openxmlformats.org/drawingml/2006/main">
              <a:ext uri="{FF2B5EF4-FFF2-40B4-BE49-F238E27FC236}">
                <a16:creationId xmlns:a16="http://schemas.microsoft.com/office/drawing/2014/main" id="{70FE0BAA-1CA3-4B00-9D67-6BF1AD048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865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400050" y="1381125"/>
          <a:ext xmlns:a="http://schemas.openxmlformats.org/drawingml/2006/main" cx="7620000" cy="4572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cad7db9d8e94ab6"/>
          </a:graphicData>
        </a:graphic>
      </p:graphicFrame>
      <p:sp>
        <p:nvSpPr>
          <p:cNvPr id="4" name="limit-heading">
            <a:extLst xmlns:a="http://schemas.openxmlformats.org/drawingml/2006/main">
              <a:ext uri="{FF2B5EF4-FFF2-40B4-BE49-F238E27FC236}">
                <a16:creationId xmlns:a16="http://schemas.microsoft.com/office/drawing/2014/main" id="{DBCDC584-6741-435C-8996-E10990EA3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71625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焦点优先的判据</a:t>
            </a:r>
          </a:p>
        </p:txBody>
      </p:sp>
      <p:sp>
        <p:nvSpPr>
          <p:cNvPr id="5" name="limit-body">
            <a:extLst xmlns:a="http://schemas.openxmlformats.org/drawingml/2006/main">
              <a:ext uri="{FF2B5EF4-FFF2-40B4-BE49-F238E27FC236}">
                <a16:creationId xmlns:a16="http://schemas.microsoft.com/office/drawing/2014/main" id="{0CA72EE7-3999-4408-AE7B-CA44CD80F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38375"/>
            <a:ext cx="3143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828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让 X、Y 束腰在同一位置出现，且两者 D4σ 束腰直径相同。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不要求远离焦点后仍保持圆斑。</a:t>
            </a:r>
          </a:p>
        </p:txBody>
      </p:sp>
      <p:sp>
        <p:nvSpPr>
          <p:cNvPr id="6" name="limit-panel">
            <a:extLst xmlns:a="http://schemas.openxmlformats.org/drawingml/2006/main">
              <a:ext uri="{FF2B5EF4-FFF2-40B4-BE49-F238E27FC236}">
                <a16:creationId xmlns:a16="http://schemas.microsoft.com/office/drawing/2014/main" id="{6D3FDC4F-E678-4224-8C81-F7E35F98C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31432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limit-formula">
            <a:extLst xmlns:a="http://schemas.openxmlformats.org/drawingml/2006/main">
              <a:ext uri="{FF2B5EF4-FFF2-40B4-BE49-F238E27FC236}">
                <a16:creationId xmlns:a16="http://schemas.microsoft.com/office/drawing/2014/main" id="{D97F0A68-FEDF-4017-9980-17FD5C0F6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924300"/>
            <a:ext cx="266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63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ε(235.3) ≈ 1.000</a:t>
            </a:r>
          </a:p>
        </p:txBody>
      </p:sp>
      <p:sp>
        <p:nvSpPr>
          <p:cNvPr id="8" name="limit-conclusion">
            <a:extLst xmlns:a="http://schemas.openxmlformats.org/drawingml/2006/main">
              <a:ext uri="{FF2B5EF4-FFF2-40B4-BE49-F238E27FC236}">
                <a16:creationId xmlns:a16="http://schemas.microsoft.com/office/drawing/2014/main" id="{BBB147EB-1BC9-4C5E-92F6-3E6C689BB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219700"/>
            <a:ext cx="314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模型预测：z≈230 mm 为 1.124；z≈240 mm 为 1.088；±10 mm 最差约 1.274。</a:t>
            </a:r>
          </a:p>
        </p:txBody>
      </p:sp>
    </p:spTree>
    <p:extLst>
      <p:ext uri="{BB962C8B-B14F-4D97-AF65-F5344CB8AC3E}">
        <p14:creationId xmlns:p14="http://schemas.microsoft.com/office/powerpoint/2010/main" val="5043489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A0963867-284E-4CC3-9850-F4726F40F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287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柱面镜只有一个有光焦度方向：X 被改写，Y 保持不变</a:t>
            </a:r>
          </a:p>
        </p:txBody>
      </p:sp>
      <p:sp>
        <p:nvSpPr>
          <p:cNvPr id="2" name="slide-5-number">
            <a:extLst xmlns:a="http://schemas.openxmlformats.org/drawingml/2006/main">
              <a:ext uri="{FF2B5EF4-FFF2-40B4-BE49-F238E27FC236}">
                <a16:creationId xmlns:a16="http://schemas.microsoft.com/office/drawing/2014/main" id="{5CA8B777-DCAA-4A59-A77D-B465229CD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865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" name="optical-axis">
            <a:extLst xmlns:a="http://schemas.openxmlformats.org/drawingml/2006/main">
              <a:ext uri="{FF2B5EF4-FFF2-40B4-BE49-F238E27FC236}">
                <a16:creationId xmlns:a16="http://schemas.microsoft.com/office/drawing/2014/main" id="{F7DB12C3-2059-477B-B5A4-EE4C5128B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dash"/>
          </a:ln>
        </p:spPr>
      </p:sp>
      <p:sp>
        <p:nvSpPr>
          <p:cNvPr id="4" name="beam-upper-1">
            <a:extLst xmlns:a="http://schemas.openxmlformats.org/drawingml/2006/main">
              <a:ext uri="{FF2B5EF4-FFF2-40B4-BE49-F238E27FC236}">
                <a16:creationId xmlns:a16="http://schemas.microsoft.com/office/drawing/2014/main" id="{91256F43-7601-4A37-B796-4FD51A97D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333625"/>
            <a:ext cx="3314700" cy="666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D8DFF"/>
            </a:solidFill>
            <a:prstDash val="solid"/>
          </a:ln>
        </p:spPr>
      </p:sp>
      <p:sp>
        <p:nvSpPr>
          <p:cNvPr id="5" name="beam-lower-1">
            <a:extLst xmlns:a="http://schemas.openxmlformats.org/drawingml/2006/main">
              <a:ext uri="{FF2B5EF4-FFF2-40B4-BE49-F238E27FC236}">
                <a16:creationId xmlns:a16="http://schemas.microsoft.com/office/drawing/2014/main" id="{B36AE0D9-2290-4DA8-9F06-71DAA6F48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571625" y="3667125"/>
            <a:ext cx="3314700" cy="666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D8DFF"/>
            </a:solidFill>
            <a:prstDash val="solid"/>
          </a:ln>
        </p:spPr>
      </p:sp>
      <p:sp>
        <p:nvSpPr>
          <p:cNvPr id="6" name="beam-upper-2">
            <a:extLst xmlns:a="http://schemas.openxmlformats.org/drawingml/2006/main">
              <a:ext uri="{FF2B5EF4-FFF2-40B4-BE49-F238E27FC236}">
                <a16:creationId xmlns:a16="http://schemas.microsoft.com/office/drawing/2014/main" id="{483EAC33-2EFA-4240-A596-FB50AFBD6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000375"/>
            <a:ext cx="3095625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9E73"/>
            </a:solidFill>
            <a:prstDash val="solid"/>
          </a:ln>
        </p:spPr>
      </p:sp>
      <p:sp>
        <p:nvSpPr>
          <p:cNvPr id="7" name="beam-lower-2">
            <a:extLst xmlns:a="http://schemas.openxmlformats.org/drawingml/2006/main">
              <a:ext uri="{FF2B5EF4-FFF2-40B4-BE49-F238E27FC236}">
                <a16:creationId xmlns:a16="http://schemas.microsoft.com/office/drawing/2014/main" id="{BB15DF90-99AD-4E4F-985C-A91CAE32C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886325" y="3333750"/>
            <a:ext cx="3095625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9E73"/>
            </a:solidFill>
            <a:prstDash val="solid"/>
          </a:ln>
        </p:spPr>
      </p:sp>
      <p:sp>
        <p:nvSpPr>
          <p:cNvPr id="8" name="beam-upper-3">
            <a:extLst xmlns:a="http://schemas.openxmlformats.org/drawingml/2006/main">
              <a:ext uri="{FF2B5EF4-FFF2-40B4-BE49-F238E27FC236}">
                <a16:creationId xmlns:a16="http://schemas.microsoft.com/office/drawing/2014/main" id="{3ABDE0C0-2667-4119-81F8-3346244B8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333750"/>
            <a:ext cx="523875" cy="42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9E73"/>
            </a:solidFill>
            <a:prstDash val="solid"/>
          </a:ln>
        </p:spPr>
      </p:sp>
      <p:sp>
        <p:nvSpPr>
          <p:cNvPr id="9" name="beam-lower-3">
            <a:extLst xmlns:a="http://schemas.openxmlformats.org/drawingml/2006/main">
              <a:ext uri="{FF2B5EF4-FFF2-40B4-BE49-F238E27FC236}">
                <a16:creationId xmlns:a16="http://schemas.microsoft.com/office/drawing/2014/main" id="{0CAC5D3F-6B06-40A3-952D-82F4DEE9C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981950" y="2905125"/>
            <a:ext cx="523875" cy="42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9E73"/>
            </a:solidFill>
            <a:prstDash val="solid"/>
          </a:ln>
        </p:spPr>
      </p:sp>
      <p:sp>
        <p:nvSpPr>
          <p:cNvPr id="10" name="distance-bracket">
            <a:extLst xmlns:a="http://schemas.openxmlformats.org/drawingml/2006/main">
              <a:ext uri="{FF2B5EF4-FFF2-40B4-BE49-F238E27FC236}">
                <a16:creationId xmlns:a16="http://schemas.microsoft.com/office/drawing/2014/main" id="{1B5385A9-239A-4A4C-B754-80814733D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x-power-arrow">
            <a:extLst xmlns:a="http://schemas.openxmlformats.org/drawingml/2006/main">
              <a:ext uri="{FF2B5EF4-FFF2-40B4-BE49-F238E27FC236}">
                <a16:creationId xmlns:a16="http://schemas.microsoft.com/office/drawing/2014/main" id="{7F34DED2-E139-459B-8CE5-6EDB9C495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y-axis-line">
            <a:extLst xmlns:a="http://schemas.openxmlformats.org/drawingml/2006/main">
              <a:ext uri="{FF2B5EF4-FFF2-40B4-BE49-F238E27FC236}">
                <a16:creationId xmlns:a16="http://schemas.microsoft.com/office/drawing/2014/main" id="{B23B9271-D7B1-4BF0-A986-DAA416266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existing-optics">
            <a:extLst xmlns:a="http://schemas.openxmlformats.org/drawingml/2006/main">
              <a:ext uri="{FF2B5EF4-FFF2-40B4-BE49-F238E27FC236}">
                <a16:creationId xmlns:a16="http://schemas.microsoft.com/office/drawing/2014/main" id="{1A14A6FC-AD0E-48C5-92B6-CB258DED2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95500"/>
            <a:ext cx="2667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14" name="cylindrical-lens">
            <a:extLst xmlns:a="http://schemas.openxmlformats.org/drawingml/2006/main">
              <a:ext uri="{FF2B5EF4-FFF2-40B4-BE49-F238E27FC236}">
                <a16:creationId xmlns:a16="http://schemas.microsoft.com/office/drawing/2014/main" id="{1B242879-8110-432A-A8D0-BB2A2C750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43125"/>
            <a:ext cx="247650" cy="23812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15" name="focus-point">
            <a:extLst xmlns:a="http://schemas.openxmlformats.org/drawingml/2006/main">
              <a:ext uri="{FF2B5EF4-FFF2-40B4-BE49-F238E27FC236}">
                <a16:creationId xmlns:a16="http://schemas.microsoft.com/office/drawing/2014/main" id="{3088F3D8-674F-4C2F-B621-88AD5DC83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2099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9F00"/>
          </a:solidFill>
          <a:ln xmlns:a="http://schemas.openxmlformats.org/drawingml/2006/main" w="9525">
            <a:solidFill>
              <a:srgbClr val="E69F00"/>
            </a:solidFill>
            <a:prstDash val="solid"/>
          </a:ln>
        </p:spPr>
      </p:sp>
      <p:sp>
        <p:nvSpPr>
          <p:cNvPr id="16" name="camera-scan">
            <a:extLst xmlns:a="http://schemas.openxmlformats.org/drawingml/2006/main">
              <a:ext uri="{FF2B5EF4-FFF2-40B4-BE49-F238E27FC236}">
                <a16:creationId xmlns:a16="http://schemas.microsoft.com/office/drawing/2014/main" id="{44F98691-BF1C-41E6-9BE6-ACB80F163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62125"/>
            <a:ext cx="2857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existing-label">
            <a:extLst xmlns:a="http://schemas.openxmlformats.org/drawingml/2006/main">
              <a:ext uri="{FF2B5EF4-FFF2-40B4-BE49-F238E27FC236}">
                <a16:creationId xmlns:a16="http://schemas.microsoft.com/office/drawing/2014/main" id="{51240962-FB90-4F05-AF81-282528018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1952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入射束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两个主轴独立传播</a:t>
            </a:r>
          </a:p>
        </p:txBody>
      </p:sp>
      <p:sp>
        <p:nvSpPr>
          <p:cNvPr id="18" name="lens-label">
            <a:extLst xmlns:a="http://schemas.openxmlformats.org/drawingml/2006/main">
              <a:ext uri="{FF2B5EF4-FFF2-40B4-BE49-F238E27FC236}">
                <a16:creationId xmlns:a16="http://schemas.microsoft.com/office/drawing/2014/main" id="{BF9B5103-3387-4C30-8247-5B28744D3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428750"/>
            <a:ext cx="200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柱面镜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曲率只沿 X</a:t>
            </a:r>
          </a:p>
        </p:txBody>
      </p:sp>
      <p:sp>
        <p:nvSpPr>
          <p:cNvPr id="19" name="lens-z-label">
            <a:extLst xmlns:a="http://schemas.openxmlformats.org/drawingml/2006/main">
              <a:ext uri="{FF2B5EF4-FFF2-40B4-BE49-F238E27FC236}">
                <a16:creationId xmlns:a16="http://schemas.microsoft.com/office/drawing/2014/main" id="{7E8914F0-05D1-48C1-A0ED-27FBBC42B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762500"/>
            <a:ext cx="300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母线沿 Y：无光焦度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功率方向沿 X：1/fc</a:t>
            </a:r>
          </a:p>
        </p:txBody>
      </p:sp>
      <p:sp>
        <p:nvSpPr>
          <p:cNvPr id="20" name="focus-label">
            <a:extLst xmlns:a="http://schemas.openxmlformats.org/drawingml/2006/main">
              <a:ext uri="{FF2B5EF4-FFF2-40B4-BE49-F238E27FC236}">
                <a16:creationId xmlns:a16="http://schemas.microsoft.com/office/drawing/2014/main" id="{A2A722CC-B51C-4070-A8CF-8D45F1C52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428750"/>
            <a:ext cx="219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E69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E69F00"/>
                </a:solidFill>
                <a:latin typeface="Microsoft YaHei"/>
                <a:ea typeface="Microsoft YaHei"/>
                <a:cs typeface="Microsoft YaHei"/>
              </a:rPr>
              <a:t>X 束腰被移动并缩小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E69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E69F00"/>
                </a:solidFill>
                <a:latin typeface="Microsoft YaHei"/>
                <a:ea typeface="Microsoft YaHei"/>
                <a:cs typeface="Microsoft YaHei"/>
              </a:rPr>
              <a:t>与 Y 束腰重合</a:t>
            </a:r>
          </a:p>
        </p:txBody>
      </p:sp>
      <p:sp>
        <p:nvSpPr>
          <p:cNvPr id="21" name="distance-label">
            <a:extLst xmlns:a="http://schemas.openxmlformats.org/drawingml/2006/main">
              <a:ext uri="{FF2B5EF4-FFF2-40B4-BE49-F238E27FC236}">
                <a16:creationId xmlns:a16="http://schemas.microsoft.com/office/drawing/2014/main" id="{424B931E-BD16-4B25-8E55-7083952B3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2" name="camera-label">
            <a:extLst xmlns:a="http://schemas.openxmlformats.org/drawingml/2006/main">
              <a:ext uri="{FF2B5EF4-FFF2-40B4-BE49-F238E27FC236}">
                <a16:creationId xmlns:a16="http://schemas.microsoft.com/office/drawing/2014/main" id="{BBFF6FF2-7651-4D2D-98F4-E3B8ABE71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952625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等效关系</a:t>
            </a:r>
          </a:p>
        </p:txBody>
      </p:sp>
      <p:sp>
        <p:nvSpPr>
          <p:cNvPr id="23" name="orientation-panel">
            <a:extLst xmlns:a="http://schemas.openxmlformats.org/drawingml/2006/main">
              <a:ext uri="{FF2B5EF4-FFF2-40B4-BE49-F238E27FC236}">
                <a16:creationId xmlns:a16="http://schemas.microsoft.com/office/drawing/2014/main" id="{1AC442C4-8F4E-4FD9-B350-974239142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62125"/>
            <a:ext cx="2857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4" name="orientation-title">
            <a:extLst xmlns:a="http://schemas.openxmlformats.org/drawingml/2006/main">
              <a:ext uri="{FF2B5EF4-FFF2-40B4-BE49-F238E27FC236}">
                <a16:creationId xmlns:a16="http://schemas.microsoft.com/office/drawing/2014/main" id="{E821F5F2-0FE7-4302-A76E-1D5C76B5A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4288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q 参数表示</a:t>
            </a:r>
          </a:p>
        </p:txBody>
      </p:sp>
      <p:sp>
        <p:nvSpPr>
          <p:cNvPr id="25" name="orientation-x-visible">
            <a:extLst xmlns:a="http://schemas.openxmlformats.org/drawingml/2006/main">
              <a:ext uri="{FF2B5EF4-FFF2-40B4-BE49-F238E27FC236}">
                <a16:creationId xmlns:a16="http://schemas.microsoft.com/office/drawing/2014/main" id="{6E4789E1-0B41-4742-8AFB-EE940DC8E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6" name="orientation-y-visible">
            <a:extLst xmlns:a="http://schemas.openxmlformats.org/drawingml/2006/main">
              <a:ext uri="{FF2B5EF4-FFF2-40B4-BE49-F238E27FC236}">
                <a16:creationId xmlns:a16="http://schemas.microsoft.com/office/drawing/2014/main" id="{F738A3B7-80B1-4B17-9DF0-34E1722C3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7" name="orientation-cylinder-icon">
            <a:extLst xmlns:a="http://schemas.openxmlformats.org/drawingml/2006/main">
              <a:ext uri="{FF2B5EF4-FFF2-40B4-BE49-F238E27FC236}">
                <a16:creationId xmlns:a16="http://schemas.microsoft.com/office/drawing/2014/main" id="{03B8FB4B-157A-45E2-B682-05C918B58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8" name="x-orientation-label">
            <a:extLst xmlns:a="http://schemas.openxmlformats.org/drawingml/2006/main">
              <a:ext uri="{FF2B5EF4-FFF2-40B4-BE49-F238E27FC236}">
                <a16:creationId xmlns:a16="http://schemas.microsoft.com/office/drawing/2014/main" id="{1A4A5852-8D6D-48D4-9D07-91E95F9C8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00375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1/qx,out = 1/qx,in − 1/fc</a:t>
            </a:r>
          </a:p>
        </p:txBody>
      </p:sp>
      <p:sp>
        <p:nvSpPr>
          <p:cNvPr id="29" name="y-orientation-label">
            <a:extLst xmlns:a="http://schemas.openxmlformats.org/drawingml/2006/main">
              <a:ext uri="{FF2B5EF4-FFF2-40B4-BE49-F238E27FC236}">
                <a16:creationId xmlns:a16="http://schemas.microsoft.com/office/drawing/2014/main" id="{73E09D0D-43D0-41E8-B357-74D8715F0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6712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qy,out = qy,in</a:t>
            </a:r>
          </a:p>
        </p:txBody>
      </p:sp>
      <p:sp>
        <p:nvSpPr>
          <p:cNvPr id="30" name="coordinate-note">
            <a:extLst xmlns:a="http://schemas.openxmlformats.org/drawingml/2006/main">
              <a:ext uri="{FF2B5EF4-FFF2-40B4-BE49-F238E27FC236}">
                <a16:creationId xmlns:a16="http://schemas.microsoft.com/office/drawing/2014/main" id="{A59796D7-73E6-481B-85E1-5EC2E2ED9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实际光束 M²X≠M²Y，因此计算采用 D4σ 二阶矩矩阵；q 参数只用于直观说明单轴光焦度。</a:t>
            </a:r>
          </a:p>
        </p:txBody>
      </p:sp>
    </p:spTree>
    <p:extLst>
      <p:ext uri="{BB962C8B-B14F-4D97-AF65-F5344CB8AC3E}">
        <p14:creationId xmlns:p14="http://schemas.microsoft.com/office/powerpoint/2010/main" val="115336013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BF84D16E-8325-4053-A479-CB1870B06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287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用二阶矩矩阵计算，焦点匹配与 M² 不变量同时成立</a:t>
            </a:r>
          </a:p>
        </p:txBody>
      </p:sp>
      <p:sp>
        <p:nvSpPr>
          <p:cNvPr id="2" name="slide-6-number">
            <a:extLst xmlns:a="http://schemas.openxmlformats.org/drawingml/2006/main">
              <a:ext uri="{FF2B5EF4-FFF2-40B4-BE49-F238E27FC236}">
                <a16:creationId xmlns:a16="http://schemas.microsoft.com/office/drawing/2014/main" id="{34E7EFA9-9CCD-490C-BD4D-4A5C5F8C5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865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" name="timeline-line">
            <a:extLst xmlns:a="http://schemas.openxmlformats.org/drawingml/2006/main">
              <a:ext uri="{FF2B5EF4-FFF2-40B4-BE49-F238E27FC236}">
                <a16:creationId xmlns:a16="http://schemas.microsoft.com/office/drawing/2014/main" id="{318605AD-54DD-4785-A5DD-824A2D5B0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05125"/>
            <a:ext cx="962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8BCC4"/>
            </a:solidFill>
            <a:prstDash val="solid"/>
          </a:ln>
        </p:spPr>
      </p:sp>
      <p:sp>
        <p:nvSpPr>
          <p:cNvPr id="4" name="step-dot-1">
            <a:extLst xmlns:a="http://schemas.openxmlformats.org/drawingml/2006/main">
              <a:ext uri="{FF2B5EF4-FFF2-40B4-BE49-F238E27FC236}">
                <a16:creationId xmlns:a16="http://schemas.microsoft.com/office/drawing/2014/main" id="{AA01979E-BFEB-42CC-B2A4-5395C3851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7813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5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C37E869B-3A98-4B7E-8B4F-127D951C8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28600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step-title-1">
            <a:extLst xmlns:a="http://schemas.openxmlformats.org/drawingml/2006/main">
              <a:ext uri="{FF2B5EF4-FFF2-40B4-BE49-F238E27FC236}">
                <a16:creationId xmlns:a16="http://schemas.microsoft.com/office/drawing/2014/main" id="{E069E234-3CFC-4515-9078-3D757B77E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28612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原始 D4σ 焦散</a:t>
            </a:r>
          </a:p>
        </p:txBody>
      </p:sp>
      <p:sp>
        <p:nvSpPr>
          <p:cNvPr id="7" name="step-body-1">
            <a:extLst xmlns:a="http://schemas.openxmlformats.org/drawingml/2006/main">
              <a:ext uri="{FF2B5EF4-FFF2-40B4-BE49-F238E27FC236}">
                <a16:creationId xmlns:a16="http://schemas.microsoft.com/office/drawing/2014/main" id="{1FE73899-C20D-4F6D-B9D8-2DE5057EE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905250"/>
            <a:ext cx="28098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D²(z)=D₀²+θ²(z−z₀)²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X：D₀=891 µm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Y：D₀=515 µm</a:t>
            </a:r>
          </a:p>
        </p:txBody>
      </p:sp>
      <p:sp>
        <p:nvSpPr>
          <p:cNvPr id="8" name="step-dot-2">
            <a:extLst xmlns:a="http://schemas.openxmlformats.org/drawingml/2006/main">
              <a:ext uri="{FF2B5EF4-FFF2-40B4-BE49-F238E27FC236}">
                <a16:creationId xmlns:a16="http://schemas.microsoft.com/office/drawing/2014/main" id="{16B6D699-4A34-41A8-B3C8-EF678502F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7813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9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44027753-E278-4708-B6DD-87312127D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28600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step-title-2">
            <a:extLst xmlns:a="http://schemas.openxmlformats.org/drawingml/2006/main">
              <a:ext uri="{FF2B5EF4-FFF2-40B4-BE49-F238E27FC236}">
                <a16:creationId xmlns:a16="http://schemas.microsoft.com/office/drawing/2014/main" id="{422FDD6D-0068-42F2-B124-4AD4BC9B3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28612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薄柱面镜变换</a:t>
            </a:r>
          </a:p>
        </p:txBody>
      </p:sp>
      <p:sp>
        <p:nvSpPr>
          <p:cNvPr id="11" name="step-body-2">
            <a:extLst xmlns:a="http://schemas.openxmlformats.org/drawingml/2006/main">
              <a:ext uri="{FF2B5EF4-FFF2-40B4-BE49-F238E27FC236}">
                <a16:creationId xmlns:a16="http://schemas.microsoft.com/office/drawing/2014/main" id="{5E040529-4B65-436A-9D27-57B3D076C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905250"/>
            <a:ext cx="28098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Gout = L Gin Lᵀ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Lx=[[1,0],[−1/fc,1]]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Ly=I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再用 P(Δz) 自由传播</a:t>
            </a:r>
          </a:p>
        </p:txBody>
      </p:sp>
      <p:sp>
        <p:nvSpPr>
          <p:cNvPr id="12" name="step-dot-3">
            <a:extLst xmlns:a="http://schemas.openxmlformats.org/drawingml/2006/main">
              <a:ext uri="{FF2B5EF4-FFF2-40B4-BE49-F238E27FC236}">
                <a16:creationId xmlns:a16="http://schemas.microsoft.com/office/drawing/2014/main" id="{A6EFD8AB-1507-4F51-8B8F-F9C57CDAF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7813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3" name="step-number-3">
            <a:extLst xmlns:a="http://schemas.openxmlformats.org/drawingml/2006/main">
              <a:ext uri="{FF2B5EF4-FFF2-40B4-BE49-F238E27FC236}">
                <a16:creationId xmlns:a16="http://schemas.microsoft.com/office/drawing/2014/main" id="{75EEF7D1-D5EA-4AA0-A342-9DC3F9D32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28600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step-title-3">
            <a:extLst xmlns:a="http://schemas.openxmlformats.org/drawingml/2006/main">
              <a:ext uri="{FF2B5EF4-FFF2-40B4-BE49-F238E27FC236}">
                <a16:creationId xmlns:a16="http://schemas.microsoft.com/office/drawing/2014/main" id="{25E86A0F-8240-40AF-833B-172B59244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28612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焦点处双条件匹配</a:t>
            </a:r>
          </a:p>
        </p:txBody>
      </p:sp>
      <p:sp>
        <p:nvSpPr>
          <p:cNvPr id="15" name="step-body-3">
            <a:extLst xmlns:a="http://schemas.openxmlformats.org/drawingml/2006/main">
              <a:ext uri="{FF2B5EF4-FFF2-40B4-BE49-F238E27FC236}">
                <a16:creationId xmlns:a16="http://schemas.microsoft.com/office/drawing/2014/main" id="{328A6687-27E3-4BBC-B88A-EC1420E20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905250"/>
            <a:ext cx="28098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z₀X′≈z₀Y≈235.32 mm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D₀X′≈D₀Y≈515 µm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⇒ εfocus≈1.000</a:t>
            </a:r>
          </a:p>
        </p:txBody>
      </p:sp>
      <p:sp>
        <p:nvSpPr>
          <p:cNvPr id="16" name="acceptance-panel">
            <a:extLst xmlns:a="http://schemas.openxmlformats.org/drawingml/2006/main">
              <a:ext uri="{FF2B5EF4-FFF2-40B4-BE49-F238E27FC236}">
                <a16:creationId xmlns:a16="http://schemas.microsoft.com/office/drawing/2014/main" id="{7CF626FC-0B72-41C2-A839-5B7E00074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76875"/>
            <a:ext cx="1114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acceptance-text">
            <a:extLst xmlns:a="http://schemas.openxmlformats.org/drawingml/2006/main">
              <a:ext uri="{FF2B5EF4-FFF2-40B4-BE49-F238E27FC236}">
                <a16:creationId xmlns:a16="http://schemas.microsoft.com/office/drawing/2014/main" id="{5DE5E64B-E4FC-42A4-BCBB-75973654D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578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81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det(G) 在无损一阶光学中不变 ⇒ M² 不变；因此 θX′=D₀X·θX/D₀X′≈68.31 µm/mm，解释了离焦后轴比回升。</a:t>
            </a:r>
          </a:p>
        </p:txBody>
      </p:sp>
    </p:spTree>
    <p:extLst>
      <p:ext uri="{BB962C8B-B14F-4D97-AF65-F5344CB8AC3E}">
        <p14:creationId xmlns:p14="http://schemas.microsoft.com/office/powerpoint/2010/main" val="90087510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EFBA05E9-7508-464B-9EE7-DD4183BAD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287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M² 前后不变；焦点圆斑来自 X 焦散重排</a:t>
            </a:r>
          </a:p>
        </p:txBody>
      </p:sp>
      <p:sp>
        <p:nvSpPr>
          <p:cNvPr id="2" name="slide-4-number">
            <a:extLst xmlns:a="http://schemas.openxmlformats.org/drawingml/2006/main">
              <a:ext uri="{FF2B5EF4-FFF2-40B4-BE49-F238E27FC236}">
                <a16:creationId xmlns:a16="http://schemas.microsoft.com/office/drawing/2014/main" id="{04D720EA-4D6F-498A-B17A-232C0EBAB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865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" name="m2-subtitle">
            <a:extLst xmlns:a="http://schemas.openxmlformats.org/drawingml/2006/main">
              <a:ext uri="{FF2B5EF4-FFF2-40B4-BE49-F238E27FC236}">
                <a16:creationId xmlns:a16="http://schemas.microsoft.com/office/drawing/2014/main" id="{44E51DA3-7959-4F52-A8D9-935005AB8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95375"/>
            <a:ext cx="11239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柱面镜不“修好”光束质量，而是调整 X 方向波前曲率：焦点处 X/Y 相等，离焦后 X 因更大发散角增长更快。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400050" y="1762125"/>
          <a:ext xmlns:a="http://schemas.openxmlformats.org/drawingml/2006/main" cx="3714750" cy="3857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1d0a56661ef4ae0"/>
          </a:graphicData>
        </a:graphic>
      </p:graphicFrame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4476750" y="1762125"/>
          <a:ext xmlns:a="http://schemas.openxmlformats.org/drawingml/2006/main" cx="7191375" cy="3857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82be502c4d14010"/>
          </a:graphicData>
        </a:graphic>
      </p:graphicFrame>
      <p:sp>
        <p:nvSpPr>
          <p:cNvPr id="6" name="waist-change">
            <a:extLst xmlns:a="http://schemas.openxmlformats.org/drawingml/2006/main">
              <a:ext uri="{FF2B5EF4-FFF2-40B4-BE49-F238E27FC236}">
                <a16:creationId xmlns:a16="http://schemas.microsoft.com/office/drawing/2014/main" id="{DD1E650C-7F61-46C8-A72A-6B88680C3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810250"/>
            <a:ext cx="3286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9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9E73"/>
                </a:solidFill>
                <a:latin typeface="Microsoft YaHei"/>
                <a:ea typeface="Microsoft YaHei"/>
                <a:cs typeface="Microsoft YaHei"/>
              </a:rPr>
              <a:t>X 束腰：891 → 515 µm</a:t>
            </a:r>
          </a:p>
        </p:txBody>
      </p:sp>
      <p:sp>
        <p:nvSpPr>
          <p:cNvPr id="7" name="divergence-change">
            <a:extLst xmlns:a="http://schemas.openxmlformats.org/drawingml/2006/main">
              <a:ext uri="{FF2B5EF4-FFF2-40B4-BE49-F238E27FC236}">
                <a16:creationId xmlns:a16="http://schemas.microsoft.com/office/drawing/2014/main" id="{3B40173A-5E85-4619-BA48-3D728C7A0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8102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9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9E73"/>
                </a:solidFill>
                <a:latin typeface="Microsoft YaHei"/>
                <a:ea typeface="Microsoft YaHei"/>
                <a:cs typeface="Microsoft YaHei"/>
              </a:rPr>
              <a:t>X 发散：39.47 → 68.31 µm/mm</a:t>
            </a:r>
          </a:p>
        </p:txBody>
      </p:sp>
      <p:sp>
        <p:nvSpPr>
          <p:cNvPr id="8" name="m2-exact-values">
            <a:extLst xmlns:a="http://schemas.openxmlformats.org/drawingml/2006/main">
              <a:ext uri="{FF2B5EF4-FFF2-40B4-BE49-F238E27FC236}">
                <a16:creationId xmlns:a16="http://schemas.microsoft.com/office/drawing/2014/main" id="{59137100-2AB8-4D43-BCC9-AE33B69D3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667375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M²X=2.6065 / M²Y=1.6552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前后相同</a:t>
            </a:r>
          </a:p>
        </p:txBody>
      </p:sp>
    </p:spTree>
    <p:extLst>
      <p:ext uri="{BB962C8B-B14F-4D97-AF65-F5344CB8AC3E}">
        <p14:creationId xmlns:p14="http://schemas.microsoft.com/office/powerpoint/2010/main" val="160808722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A0963867-284E-4CC3-9850-F4726F40F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287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0334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在焦点前 12.70 mm 放置 +25.4 mm 柱面镜，功率方向沿 X</a:t>
            </a:r>
          </a:p>
        </p:txBody>
      </p:sp>
      <p:sp>
        <p:nvSpPr>
          <p:cNvPr id="2" name="slide-5-number">
            <a:extLst xmlns:a="http://schemas.openxmlformats.org/drawingml/2006/main">
              <a:ext uri="{FF2B5EF4-FFF2-40B4-BE49-F238E27FC236}">
                <a16:creationId xmlns:a16="http://schemas.microsoft.com/office/drawing/2014/main" id="{5CA8B777-DCAA-4A59-A77D-B465229CD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865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3" name="optical-axis">
            <a:extLst xmlns:a="http://schemas.openxmlformats.org/drawingml/2006/main">
              <a:ext uri="{FF2B5EF4-FFF2-40B4-BE49-F238E27FC236}">
                <a16:creationId xmlns:a16="http://schemas.microsoft.com/office/drawing/2014/main" id="{F7DB12C3-2059-477B-B5A4-EE4C5128B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95625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dash"/>
          </a:ln>
        </p:spPr>
      </p:sp>
      <p:sp>
        <p:nvSpPr>
          <p:cNvPr id="4" name="beam-upper-1">
            <a:extLst xmlns:a="http://schemas.openxmlformats.org/drawingml/2006/main">
              <a:ext uri="{FF2B5EF4-FFF2-40B4-BE49-F238E27FC236}">
                <a16:creationId xmlns:a16="http://schemas.microsoft.com/office/drawing/2014/main" id="{91256F43-7601-4A37-B796-4FD51A97D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333625"/>
            <a:ext cx="333375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D8DFF"/>
            </a:solidFill>
            <a:prstDash val="solid"/>
          </a:ln>
        </p:spPr>
      </p:sp>
      <p:sp>
        <p:nvSpPr>
          <p:cNvPr id="5" name="beam-lower-1">
            <a:extLst xmlns:a="http://schemas.openxmlformats.org/drawingml/2006/main">
              <a:ext uri="{FF2B5EF4-FFF2-40B4-BE49-F238E27FC236}">
                <a16:creationId xmlns:a16="http://schemas.microsoft.com/office/drawing/2014/main" id="{B36AE0D9-2290-4DA8-9F06-71DAA6F48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619250" y="3381375"/>
            <a:ext cx="333375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D8DFF"/>
            </a:solidFill>
            <a:prstDash val="solid"/>
          </a:ln>
        </p:spPr>
      </p:sp>
      <p:sp>
        <p:nvSpPr>
          <p:cNvPr id="6" name="beam-upper-2">
            <a:extLst xmlns:a="http://schemas.openxmlformats.org/drawingml/2006/main">
              <a:ext uri="{FF2B5EF4-FFF2-40B4-BE49-F238E27FC236}">
                <a16:creationId xmlns:a16="http://schemas.microsoft.com/office/drawing/2014/main" id="{483EAC33-2EFA-4240-A596-FB50AFBD6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09875"/>
            <a:ext cx="3143250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9E73"/>
            </a:solidFill>
            <a:prstDash val="solid"/>
          </a:ln>
        </p:spPr>
      </p:sp>
      <p:sp>
        <p:nvSpPr>
          <p:cNvPr id="7" name="beam-lower-2">
            <a:extLst xmlns:a="http://schemas.openxmlformats.org/drawingml/2006/main">
              <a:ext uri="{FF2B5EF4-FFF2-40B4-BE49-F238E27FC236}">
                <a16:creationId xmlns:a16="http://schemas.microsoft.com/office/drawing/2014/main" id="{BB15DF90-99AD-4E4F-985C-A91CAE32C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953000" y="3095625"/>
            <a:ext cx="3143250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9E73"/>
            </a:solidFill>
            <a:prstDash val="solid"/>
          </a:ln>
        </p:spPr>
      </p:sp>
      <p:sp>
        <p:nvSpPr>
          <p:cNvPr id="8" name="beam-upper-3">
            <a:extLst xmlns:a="http://schemas.openxmlformats.org/drawingml/2006/main">
              <a:ext uri="{FF2B5EF4-FFF2-40B4-BE49-F238E27FC236}">
                <a16:creationId xmlns:a16="http://schemas.microsoft.com/office/drawing/2014/main" id="{3ABDE0C0-2667-4119-81F8-3346244B8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95625"/>
            <a:ext cx="2381250" cy="619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9E73"/>
            </a:solidFill>
            <a:prstDash val="solid"/>
          </a:ln>
        </p:spPr>
      </p:sp>
      <p:sp>
        <p:nvSpPr>
          <p:cNvPr id="9" name="beam-lower-3">
            <a:extLst xmlns:a="http://schemas.openxmlformats.org/drawingml/2006/main">
              <a:ext uri="{FF2B5EF4-FFF2-40B4-BE49-F238E27FC236}">
                <a16:creationId xmlns:a16="http://schemas.microsoft.com/office/drawing/2014/main" id="{0CAC5D3F-6B06-40A3-952D-82F4DEE9C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096250" y="2476500"/>
            <a:ext cx="2381250" cy="619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9E73"/>
            </a:solidFill>
            <a:prstDash val="solid"/>
          </a:ln>
        </p:spPr>
      </p:sp>
      <p:sp>
        <p:nvSpPr>
          <p:cNvPr id="10" name="distance-bracket">
            <a:extLst xmlns:a="http://schemas.openxmlformats.org/drawingml/2006/main">
              <a:ext uri="{FF2B5EF4-FFF2-40B4-BE49-F238E27FC236}">
                <a16:creationId xmlns:a16="http://schemas.microsoft.com/office/drawing/2014/main" id="{1B5385A9-239A-4A4C-B754-80814733D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524375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11" name="x-power-arrow">
            <a:extLst xmlns:a="http://schemas.openxmlformats.org/drawingml/2006/main">
              <a:ext uri="{FF2B5EF4-FFF2-40B4-BE49-F238E27FC236}">
                <a16:creationId xmlns:a16="http://schemas.microsoft.com/office/drawing/2014/main" id="{7F34DED2-E139-459B-8CE5-6EDB9C495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286375"/>
            <a:ext cx="133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D8DFF"/>
            </a:solidFill>
            <a:prstDash val="solid"/>
          </a:ln>
        </p:spPr>
      </p:sp>
      <p:sp>
        <p:nvSpPr>
          <p:cNvPr id="12" name="y-axis-line">
            <a:extLst xmlns:a="http://schemas.openxmlformats.org/drawingml/2006/main">
              <a:ext uri="{FF2B5EF4-FFF2-40B4-BE49-F238E27FC236}">
                <a16:creationId xmlns:a16="http://schemas.microsoft.com/office/drawing/2014/main" id="{B23B9271-D7B1-4BF0-A986-DAA416266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714875"/>
            <a:ext cx="0" cy="1143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F6670"/>
            </a:solidFill>
            <a:prstDash val="solid"/>
          </a:ln>
        </p:spPr>
      </p:sp>
      <p:sp>
        <p:nvSpPr>
          <p:cNvPr id="13" name="existing-optics">
            <a:extLst xmlns:a="http://schemas.openxmlformats.org/drawingml/2006/main">
              <a:ext uri="{FF2B5EF4-FFF2-40B4-BE49-F238E27FC236}">
                <a16:creationId xmlns:a16="http://schemas.microsoft.com/office/drawing/2014/main" id="{1A14A6FC-AD0E-48C5-92B6-CB258DED2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38375"/>
            <a:ext cx="3048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14" name="cylindrical-lens">
            <a:extLst xmlns:a="http://schemas.openxmlformats.org/drawingml/2006/main">
              <a:ext uri="{FF2B5EF4-FFF2-40B4-BE49-F238E27FC236}">
                <a16:creationId xmlns:a16="http://schemas.microsoft.com/office/drawing/2014/main" id="{1B242879-8110-432A-A8D0-BB2A2C750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81250"/>
            <a:ext cx="228600" cy="14287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15" name="focus-point">
            <a:extLst xmlns:a="http://schemas.openxmlformats.org/drawingml/2006/main">
              <a:ext uri="{FF2B5EF4-FFF2-40B4-BE49-F238E27FC236}">
                <a16:creationId xmlns:a16="http://schemas.microsoft.com/office/drawing/2014/main" id="{3088F3D8-674F-4C2F-B621-88AD5DC83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29908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9F00"/>
          </a:solidFill>
          <a:ln xmlns:a="http://schemas.openxmlformats.org/drawingml/2006/main" w="9525">
            <a:solidFill>
              <a:srgbClr val="E69F00"/>
            </a:solidFill>
            <a:prstDash val="solid"/>
          </a:ln>
        </p:spPr>
      </p:sp>
      <p:sp>
        <p:nvSpPr>
          <p:cNvPr id="16" name="camera-scan">
            <a:extLst xmlns:a="http://schemas.openxmlformats.org/drawingml/2006/main">
              <a:ext uri="{FF2B5EF4-FFF2-40B4-BE49-F238E27FC236}">
                <a16:creationId xmlns:a16="http://schemas.microsoft.com/office/drawing/2014/main" id="{44F98691-BF1C-41E6-9BE6-ACB80F163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286000"/>
            <a:ext cx="666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17" name="existing-label">
            <a:extLst xmlns:a="http://schemas.openxmlformats.org/drawingml/2006/main">
              <a:ext uri="{FF2B5EF4-FFF2-40B4-BE49-F238E27FC236}">
                <a16:creationId xmlns:a16="http://schemas.microsoft.com/office/drawing/2014/main" id="{51240962-FB90-4F05-AF81-282528018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19250"/>
            <a:ext cx="1476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现有上游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聚焦光学</a:t>
            </a:r>
          </a:p>
        </p:txBody>
      </p:sp>
      <p:sp>
        <p:nvSpPr>
          <p:cNvPr id="18" name="lens-label">
            <a:extLst xmlns:a="http://schemas.openxmlformats.org/drawingml/2006/main">
              <a:ext uri="{FF2B5EF4-FFF2-40B4-BE49-F238E27FC236}">
                <a16:creationId xmlns:a16="http://schemas.microsoft.com/office/drawing/2014/main" id="{BF9B5103-3387-4C30-8247-5B28744D3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66875"/>
            <a:ext cx="200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+25.4 mm ZnSe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10.6 µm AR</a:t>
            </a:r>
          </a:p>
        </p:txBody>
      </p:sp>
      <p:sp>
        <p:nvSpPr>
          <p:cNvPr id="19" name="lens-z-label">
            <a:extLst xmlns:a="http://schemas.openxmlformats.org/drawingml/2006/main">
              <a:ext uri="{FF2B5EF4-FFF2-40B4-BE49-F238E27FC236}">
                <a16:creationId xmlns:a16="http://schemas.microsoft.com/office/drawing/2014/main" id="{7E8914F0-05D1-48C1-A0ED-27FBBC42B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905250"/>
            <a:ext cx="200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镜片主平面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z = 222.62 mm</a:t>
            </a:r>
          </a:p>
        </p:txBody>
      </p:sp>
      <p:sp>
        <p:nvSpPr>
          <p:cNvPr id="20" name="focus-label">
            <a:extLst xmlns:a="http://schemas.openxmlformats.org/drawingml/2006/main">
              <a:ext uri="{FF2B5EF4-FFF2-40B4-BE49-F238E27FC236}">
                <a16:creationId xmlns:a16="http://schemas.microsoft.com/office/drawing/2014/main" id="{A2A722CC-B51C-4070-A8CF-8D45F1C52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666875"/>
            <a:ext cx="1952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E69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E69F00"/>
                </a:solidFill>
                <a:latin typeface="Microsoft YaHei"/>
                <a:ea typeface="Microsoft YaHei"/>
                <a:cs typeface="Microsoft YaHei"/>
              </a:rPr>
              <a:t>目标焦点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E69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E69F00"/>
                </a:solidFill>
                <a:latin typeface="Microsoft YaHei"/>
                <a:ea typeface="Microsoft YaHei"/>
                <a:cs typeface="Microsoft YaHei"/>
              </a:rPr>
              <a:t>z ≈ 235.32 mm</a:t>
            </a:r>
          </a:p>
        </p:txBody>
      </p:sp>
      <p:sp>
        <p:nvSpPr>
          <p:cNvPr id="21" name="distance-label">
            <a:extLst xmlns:a="http://schemas.openxmlformats.org/drawingml/2006/main">
              <a:ext uri="{FF2B5EF4-FFF2-40B4-BE49-F238E27FC236}">
                <a16:creationId xmlns:a16="http://schemas.microsoft.com/office/drawing/2014/main" id="{424B931E-BD16-4B25-8E55-7083952B3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91050"/>
            <a:ext cx="904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7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12.70 mm</a:t>
            </a:r>
          </a:p>
        </p:txBody>
      </p:sp>
      <p:sp>
        <p:nvSpPr>
          <p:cNvPr id="22" name="camera-label">
            <a:extLst xmlns:a="http://schemas.openxmlformats.org/drawingml/2006/main">
              <a:ext uri="{FF2B5EF4-FFF2-40B4-BE49-F238E27FC236}">
                <a16:creationId xmlns:a16="http://schemas.microsoft.com/office/drawing/2014/main" id="{BBFF6FF2-7651-4D2D-98F4-E3B8ABE71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571625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828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相机重点扫描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z = 230 / 235.3 / 240 mm</a:t>
            </a:r>
          </a:p>
        </p:txBody>
      </p:sp>
      <p:sp>
        <p:nvSpPr>
          <p:cNvPr id="23" name="orientation-panel">
            <a:extLst xmlns:a="http://schemas.openxmlformats.org/drawingml/2006/main">
              <a:ext uri="{FF2B5EF4-FFF2-40B4-BE49-F238E27FC236}">
                <a16:creationId xmlns:a16="http://schemas.microsoft.com/office/drawing/2014/main" id="{1AC442C4-8F4E-4FD9-B350-974239142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619625"/>
            <a:ext cx="295275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orientation-title">
            <a:extLst xmlns:a="http://schemas.openxmlformats.org/drawingml/2006/main">
              <a:ext uri="{FF2B5EF4-FFF2-40B4-BE49-F238E27FC236}">
                <a16:creationId xmlns:a16="http://schemas.microsoft.com/office/drawing/2014/main" id="{E821F5F2-0FE7-4302-A76E-1D5C76B5A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7815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镜片方向</a:t>
            </a:r>
          </a:p>
        </p:txBody>
      </p:sp>
      <p:sp>
        <p:nvSpPr>
          <p:cNvPr id="25" name="orientation-x-visible">
            <a:extLst xmlns:a="http://schemas.openxmlformats.org/drawingml/2006/main">
              <a:ext uri="{FF2B5EF4-FFF2-40B4-BE49-F238E27FC236}">
                <a16:creationId xmlns:a16="http://schemas.microsoft.com/office/drawing/2014/main" id="{6E4789E1-0B41-4742-8AFB-EE940DC8E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505450"/>
            <a:ext cx="809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D8DFF"/>
            </a:solidFill>
            <a:prstDash val="solid"/>
          </a:ln>
        </p:spPr>
      </p:sp>
      <p:sp>
        <p:nvSpPr>
          <p:cNvPr id="26" name="orientation-y-visible">
            <a:extLst xmlns:a="http://schemas.openxmlformats.org/drawingml/2006/main">
              <a:ext uri="{FF2B5EF4-FFF2-40B4-BE49-F238E27FC236}">
                <a16:creationId xmlns:a16="http://schemas.microsoft.com/office/drawing/2014/main" id="{F738A3B7-80B1-4B17-9DF0-34E1722C3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162550"/>
            <a:ext cx="0" cy="742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F6670"/>
            </a:solidFill>
            <a:prstDash val="solid"/>
          </a:ln>
        </p:spPr>
      </p:sp>
      <p:sp>
        <p:nvSpPr>
          <p:cNvPr id="27" name="orientation-cylinder-icon">
            <a:extLst xmlns:a="http://schemas.openxmlformats.org/drawingml/2006/main">
              <a:ext uri="{FF2B5EF4-FFF2-40B4-BE49-F238E27FC236}">
                <a16:creationId xmlns:a16="http://schemas.microsoft.com/office/drawing/2014/main" id="{03B8FB4B-157A-45E2-B682-05C918B58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5238750"/>
            <a:ext cx="142875" cy="523875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8" name="x-orientation-label">
            <a:extLst xmlns:a="http://schemas.openxmlformats.org/drawingml/2006/main">
              <a:ext uri="{FF2B5EF4-FFF2-40B4-BE49-F238E27FC236}">
                <a16:creationId xmlns:a16="http://schemas.microsoft.com/office/drawing/2014/main" id="{1A4A5852-8D6D-48D4-9D07-91E95F9C8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53149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548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X：有光焦度 / 对准原长轴</a:t>
            </a:r>
          </a:p>
        </p:txBody>
      </p:sp>
      <p:sp>
        <p:nvSpPr>
          <p:cNvPr id="29" name="y-orientation-label">
            <a:extLst xmlns:a="http://schemas.openxmlformats.org/drawingml/2006/main">
              <a:ext uri="{FF2B5EF4-FFF2-40B4-BE49-F238E27FC236}">
                <a16:creationId xmlns:a16="http://schemas.microsoft.com/office/drawing/2014/main" id="{73E09D0D-43D0-41E8-B357-74D8715F0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85787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Y：柱面母线 / 无光焦度</a:t>
            </a:r>
          </a:p>
        </p:txBody>
      </p:sp>
      <p:sp>
        <p:nvSpPr>
          <p:cNvPr id="30" name="coordinate-note">
            <a:extLst xmlns:a="http://schemas.openxmlformats.org/drawingml/2006/main">
              <a:ext uri="{FF2B5EF4-FFF2-40B4-BE49-F238E27FC236}">
                <a16:creationId xmlns:a16="http://schemas.microsoft.com/office/drawing/2014/main" id="{A59796D7-73E6-481B-85E1-5EC2E2ED9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坐标沿用原 CSV 的机械零点；若平台零点不同，优先保证镜片主平面到焦点中心 12.70 mm 的相对距离。镜片有效口径建议 ≥10 mm。</a:t>
            </a:r>
          </a:p>
        </p:txBody>
      </p:sp>
    </p:spTree>
    <p:extLst>
      <p:ext uri="{BB962C8B-B14F-4D97-AF65-F5344CB8AC3E}">
        <p14:creationId xmlns:p14="http://schemas.microsoft.com/office/powerpoint/2010/main" val="115336013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BF84D16E-8325-4053-A479-CB1870B06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287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围绕焦点三点复测；以焦点圆度作为第一验收指标</a:t>
            </a:r>
          </a:p>
        </p:txBody>
      </p:sp>
      <p:sp>
        <p:nvSpPr>
          <p:cNvPr id="2" name="slide-6-number">
            <a:extLst xmlns:a="http://schemas.openxmlformats.org/drawingml/2006/main">
              <a:ext uri="{FF2B5EF4-FFF2-40B4-BE49-F238E27FC236}">
                <a16:creationId xmlns:a16="http://schemas.microsoft.com/office/drawing/2014/main" id="{34E7EFA9-9CCD-490C-BD4D-4A5C5F8C5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865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3" name="timeline-line">
            <a:extLst xmlns:a="http://schemas.openxmlformats.org/drawingml/2006/main">
              <a:ext uri="{FF2B5EF4-FFF2-40B4-BE49-F238E27FC236}">
                <a16:creationId xmlns:a16="http://schemas.microsoft.com/office/drawing/2014/main" id="{318605AD-54DD-4785-A5DD-824A2D5B0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05125"/>
            <a:ext cx="962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8BCC4"/>
            </a:solidFill>
            <a:prstDash val="solid"/>
          </a:ln>
        </p:spPr>
      </p:sp>
      <p:sp>
        <p:nvSpPr>
          <p:cNvPr id="4" name="step-dot-1">
            <a:extLst xmlns:a="http://schemas.openxmlformats.org/drawingml/2006/main">
              <a:ext uri="{FF2B5EF4-FFF2-40B4-BE49-F238E27FC236}">
                <a16:creationId xmlns:a16="http://schemas.microsoft.com/office/drawing/2014/main" id="{AA01979E-BFEB-42CC-B2A4-5395C3851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7813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5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C37E869B-3A98-4B7E-8B4F-127D951C8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28600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step-title-1">
            <a:extLst xmlns:a="http://schemas.openxmlformats.org/drawingml/2006/main">
              <a:ext uri="{FF2B5EF4-FFF2-40B4-BE49-F238E27FC236}">
                <a16:creationId xmlns:a16="http://schemas.microsoft.com/office/drawing/2014/main" id="{E069E234-3CFC-4515-9078-3D757B77E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28612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安装与定向</a:t>
            </a:r>
          </a:p>
        </p:txBody>
      </p:sp>
      <p:sp>
        <p:nvSpPr>
          <p:cNvPr id="7" name="step-body-1">
            <a:extLst xmlns:a="http://schemas.openxmlformats.org/drawingml/2006/main">
              <a:ext uri="{FF2B5EF4-FFF2-40B4-BE49-F238E27FC236}">
                <a16:creationId xmlns:a16="http://schemas.microsoft.com/office/drawing/2014/main" id="{1FE73899-C20D-4F6D-B9D8-2DE5057EE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905250"/>
            <a:ext cx="28098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+25.4 mm ZnSe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z=222.62 mm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母线沿 Y，功率沿 X</a:t>
            </a:r>
          </a:p>
        </p:txBody>
      </p:sp>
      <p:sp>
        <p:nvSpPr>
          <p:cNvPr id="8" name="step-dot-2">
            <a:extLst xmlns:a="http://schemas.openxmlformats.org/drawingml/2006/main">
              <a:ext uri="{FF2B5EF4-FFF2-40B4-BE49-F238E27FC236}">
                <a16:creationId xmlns:a16="http://schemas.microsoft.com/office/drawing/2014/main" id="{16B6D699-4A34-41A8-B3C8-EF678502F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7813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9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44027753-E278-4708-B6DD-87312127D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28600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step-title-2">
            <a:extLst xmlns:a="http://schemas.openxmlformats.org/drawingml/2006/main">
              <a:ext uri="{FF2B5EF4-FFF2-40B4-BE49-F238E27FC236}">
                <a16:creationId xmlns:a16="http://schemas.microsoft.com/office/drawing/2014/main" id="{422FDD6D-0068-42F2-B124-4AD4BC9B3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28612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焦点附近复测</a:t>
            </a:r>
          </a:p>
        </p:txBody>
      </p:sp>
      <p:sp>
        <p:nvSpPr>
          <p:cNvPr id="11" name="step-body-2">
            <a:extLst xmlns:a="http://schemas.openxmlformats.org/drawingml/2006/main">
              <a:ext uri="{FF2B5EF4-FFF2-40B4-BE49-F238E27FC236}">
                <a16:creationId xmlns:a16="http://schemas.microsoft.com/office/drawing/2014/main" id="{5E040529-4B65-436A-9D27-57B3D076C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905250"/>
            <a:ext cx="28098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重点测 z=230 / 235.3 / 240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使用同一 D4σ 算法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记录主轴角和椭圆率</a:t>
            </a:r>
          </a:p>
        </p:txBody>
      </p:sp>
      <p:sp>
        <p:nvSpPr>
          <p:cNvPr id="12" name="step-dot-3">
            <a:extLst xmlns:a="http://schemas.openxmlformats.org/drawingml/2006/main">
              <a:ext uri="{FF2B5EF4-FFF2-40B4-BE49-F238E27FC236}">
                <a16:creationId xmlns:a16="http://schemas.microsoft.com/office/drawing/2014/main" id="{A6EFD8AB-1507-4F51-8B8F-F9C57CDAF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7813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3" name="step-number-3">
            <a:extLst xmlns:a="http://schemas.openxmlformats.org/drawingml/2006/main">
              <a:ext uri="{FF2B5EF4-FFF2-40B4-BE49-F238E27FC236}">
                <a16:creationId xmlns:a16="http://schemas.microsoft.com/office/drawing/2014/main" id="{75EEF7D1-D5EA-4AA0-A342-9DC3F9D32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28600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step-title-3">
            <a:extLst xmlns:a="http://schemas.openxmlformats.org/drawingml/2006/main">
              <a:ext uri="{FF2B5EF4-FFF2-40B4-BE49-F238E27FC236}">
                <a16:creationId xmlns:a16="http://schemas.microsoft.com/office/drawing/2014/main" id="{25E86A0F-8240-40AF-833B-172B59244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28612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微调镜片位置</a:t>
            </a:r>
          </a:p>
        </p:txBody>
      </p:sp>
      <p:sp>
        <p:nvSpPr>
          <p:cNvPr id="15" name="step-body-3">
            <a:extLst xmlns:a="http://schemas.openxmlformats.org/drawingml/2006/main">
              <a:ext uri="{FF2B5EF4-FFF2-40B4-BE49-F238E27FC236}">
                <a16:creationId xmlns:a16="http://schemas.microsoft.com/office/drawing/2014/main" id="{328A6687-27E3-4BBC-B88A-EC1420E20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905250"/>
            <a:ext cx="28098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镜片 z 以 0.5–1 mm 步进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优先最小化焦点轴比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再检查 ±5 mm 对称性</a:t>
            </a:r>
          </a:p>
        </p:txBody>
      </p:sp>
      <p:sp>
        <p:nvSpPr>
          <p:cNvPr id="16" name="acceptance-panel">
            <a:extLst xmlns:a="http://schemas.openxmlformats.org/drawingml/2006/main">
              <a:ext uri="{FF2B5EF4-FFF2-40B4-BE49-F238E27FC236}">
                <a16:creationId xmlns:a16="http://schemas.microsoft.com/office/drawing/2014/main" id="{7CF626FC-0B72-41C2-A839-5B7E00074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76875"/>
            <a:ext cx="1114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acceptance-text">
            <a:extLst xmlns:a="http://schemas.openxmlformats.org/drawingml/2006/main">
              <a:ext uri="{FF2B5EF4-FFF2-40B4-BE49-F238E27FC236}">
                <a16:creationId xmlns:a16="http://schemas.microsoft.com/office/drawing/2014/main" id="{5DE5E64B-E4FC-42A4-BCBB-75973654D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578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226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建议验收：焦点 ε≤1.05；焦点 ±5 mm 内 ε≤1.15；±10 mm 内允许 ε≤1.28。超差先查主轴旋转、z 零点、焦距公差和截光。</a:t>
            </a:r>
          </a:p>
        </p:txBody>
      </p:sp>
    </p:spTree>
    <p:extLst>
      <p:ext uri="{BB962C8B-B14F-4D97-AF65-F5344CB8AC3E}">
        <p14:creationId xmlns:p14="http://schemas.microsoft.com/office/powerpoint/2010/main" val="9008751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2026-08-10T16:17:13.8890000Z</dcterms:created>
  <dcterms:modified xsi:type="dcterms:W3CDTF">2026-08-10T16:17:13.8890000Z</dcterms:modified>
</coreProperties>
</file>